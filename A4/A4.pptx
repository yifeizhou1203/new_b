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60" r:id="rId5"/>
    <p:sldId id="270" r:id="rId6"/>
    <p:sldId id="261" r:id="rId7"/>
    <p:sldId id="263" r:id="rId8"/>
    <p:sldId id="264" r:id="rId9"/>
    <p:sldId id="265" r:id="rId10"/>
    <p:sldId id="266" r:id="rId11"/>
    <p:sldId id="273" r:id="rId12"/>
    <p:sldId id="267" r:id="rId13"/>
    <p:sldId id="272" r:id="rId14"/>
    <p:sldId id="275" r:id="rId15"/>
    <p:sldId id="271" r:id="rId16"/>
    <p:sldId id="277" r:id="rId17"/>
    <p:sldId id="268" r:id="rId18"/>
    <p:sldId id="269" r:id="rId19"/>
    <p:sldId id="274" r:id="rId20"/>
    <p:sldId id="276" r:id="rId21"/>
    <p:sldId id="279" r:id="rId22"/>
    <p:sldId id="280"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22E8A1-9E37-2846-B137-EE1BBF8885FB}">
          <p14:sldIdLst>
            <p14:sldId id="256"/>
            <p14:sldId id="257"/>
            <p14:sldId id="258"/>
            <p14:sldId id="260"/>
            <p14:sldId id="270"/>
            <p14:sldId id="261"/>
            <p14:sldId id="263"/>
            <p14:sldId id="264"/>
            <p14:sldId id="265"/>
            <p14:sldId id="266"/>
            <p14:sldId id="273"/>
            <p14:sldId id="267"/>
            <p14:sldId id="272"/>
            <p14:sldId id="275"/>
            <p14:sldId id="271"/>
            <p14:sldId id="277"/>
            <p14:sldId id="268"/>
            <p14:sldId id="269"/>
            <p14:sldId id="274"/>
            <p14:sldId id="276"/>
            <p14:sldId id="279"/>
            <p14:sldId id="280"/>
            <p14:sldId id="27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0"/>
  </p:normalViewPr>
  <p:slideViewPr>
    <p:cSldViewPr snapToGrid="0">
      <p:cViewPr varScale="1">
        <p:scale>
          <a:sx n="102" d="100"/>
          <a:sy n="102" d="100"/>
        </p:scale>
        <p:origin x="9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D94C3-CB86-6F4C-B6A2-E1BBC5401FA2}" type="datetimeFigureOut">
              <a:rPr lang="en-US" smtClean="0"/>
              <a:t>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D36F81-5A20-D343-B298-5A7D43895B79}" type="slidenum">
              <a:rPr lang="en-US" smtClean="0"/>
              <a:t>‹#›</a:t>
            </a:fld>
            <a:endParaRPr lang="en-US"/>
          </a:p>
        </p:txBody>
      </p:sp>
    </p:spTree>
    <p:extLst>
      <p:ext uri="{BB962C8B-B14F-4D97-AF65-F5344CB8AC3E}">
        <p14:creationId xmlns:p14="http://schemas.microsoft.com/office/powerpoint/2010/main" val="903581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36F81-5A20-D343-B298-5A7D43895B79}" type="slidenum">
              <a:rPr lang="en-US" smtClean="0"/>
              <a:t>3</a:t>
            </a:fld>
            <a:endParaRPr lang="en-US"/>
          </a:p>
        </p:txBody>
      </p:sp>
    </p:spTree>
    <p:extLst>
      <p:ext uri="{BB962C8B-B14F-4D97-AF65-F5344CB8AC3E}">
        <p14:creationId xmlns:p14="http://schemas.microsoft.com/office/powerpoint/2010/main" val="1234045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36F81-5A20-D343-B298-5A7D43895B79}" type="slidenum">
              <a:rPr lang="en-US" smtClean="0"/>
              <a:t>6</a:t>
            </a:fld>
            <a:endParaRPr lang="en-US"/>
          </a:p>
        </p:txBody>
      </p:sp>
    </p:spTree>
    <p:extLst>
      <p:ext uri="{BB962C8B-B14F-4D97-AF65-F5344CB8AC3E}">
        <p14:creationId xmlns:p14="http://schemas.microsoft.com/office/powerpoint/2010/main" val="3373538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D36F81-5A20-D343-B298-5A7D43895B79}" type="slidenum">
              <a:rPr lang="en-US" smtClean="0"/>
              <a:t>18</a:t>
            </a:fld>
            <a:endParaRPr lang="en-US"/>
          </a:p>
        </p:txBody>
      </p:sp>
    </p:spTree>
    <p:extLst>
      <p:ext uri="{BB962C8B-B14F-4D97-AF65-F5344CB8AC3E}">
        <p14:creationId xmlns:p14="http://schemas.microsoft.com/office/powerpoint/2010/main" val="4070017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7DA2-85EF-D69C-A8AF-2DD24D87B7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DEC7C0-34F4-2FEF-EF1D-15034EF31E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7194E9-430D-0C19-2AB6-6D6D549544E7}"/>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ED9EB458-8AC1-C7AA-5B7B-19DC25D279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6CFB0-0E8B-79EE-215A-E58C2D9CCECC}"/>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2256345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225B-C440-287C-CD5F-CA8C75F579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E45E52-5FD9-EFCD-F2E2-C81D7770A1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E7D98-70DE-D15F-6CDF-2613336A31F0}"/>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ACD7DB93-7DB3-4A2E-8085-013C2A358A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7E85C-5DF5-CECA-20B5-2FE8687D392D}"/>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309658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D52D1-2561-FE90-F3CF-A64D09F7B9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19754F-85F8-5BE5-5D02-EDCC0966A0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0DE47-C6BE-E127-4553-5F43A9A7D79D}"/>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CB5E745C-45B8-ED26-BE86-BEB2D2CF0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E5C9FB-6883-58E4-E66C-CFC297D02804}"/>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1729487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C202C-7BAB-F579-4868-8460B1EE66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224387-C6E3-220A-0316-BFFDCE8244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44AEAD-522B-C353-13FD-6B96670F4B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15AF00-DB0A-ADFF-98BD-9FBB7B19AE70}"/>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6" name="Footer Placeholder 5">
            <a:extLst>
              <a:ext uri="{FF2B5EF4-FFF2-40B4-BE49-F238E27FC236}">
                <a16:creationId xmlns:a16="http://schemas.microsoft.com/office/drawing/2014/main" id="{2E29A5A9-5B5C-5724-3ED9-C6A829F670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9395DA-3665-AF71-5AFD-EFB1550ABD3C}"/>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2810991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474FC-7A5B-2E3A-9F71-EC70333B0C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BB51C6-CAA5-9E87-0F1C-E875824CA5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39335F-2CD2-CC24-18FF-2E7AA88F7A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855B7F-5405-1E47-B16B-10C0FEC88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391669-926B-C77F-4336-EC2B47CE14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734A27-6D3E-03FE-25BE-0C514F5D909C}"/>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8" name="Footer Placeholder 7">
            <a:extLst>
              <a:ext uri="{FF2B5EF4-FFF2-40B4-BE49-F238E27FC236}">
                <a16:creationId xmlns:a16="http://schemas.microsoft.com/office/drawing/2014/main" id="{388EF4EB-F87B-A28A-5156-628253266D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87E18-B559-4433-D5AD-5C7B5BA015AD}"/>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1982789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FD83A-C4B8-A0F6-7B93-C4F10D5D86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BE4F85-1D61-5B73-8E6B-795F379F3234}"/>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4" name="Footer Placeholder 3">
            <a:extLst>
              <a:ext uri="{FF2B5EF4-FFF2-40B4-BE49-F238E27FC236}">
                <a16:creationId xmlns:a16="http://schemas.microsoft.com/office/drawing/2014/main" id="{2EB6C4A6-9707-AFC5-4393-BE665CEC00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C17389-9F4F-AAB4-90EC-E5FF3F10B255}"/>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42961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30D799-489D-E0D2-55D6-45D7972B7792}"/>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3" name="Footer Placeholder 2">
            <a:extLst>
              <a:ext uri="{FF2B5EF4-FFF2-40B4-BE49-F238E27FC236}">
                <a16:creationId xmlns:a16="http://schemas.microsoft.com/office/drawing/2014/main" id="{46CFD025-B568-0A06-B320-D5930699FE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9D25B4-18F9-2189-DC34-080ABACD1AB4}"/>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3548013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5BB4-9B5E-8646-9CA4-FE99B83343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4B5684-314B-27E2-2BA3-06740196EA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37C5AA-59B3-F347-8208-8C8F96ABA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26897-4B3E-E77B-9B87-16A4E244D3EB}"/>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6" name="Footer Placeholder 5">
            <a:extLst>
              <a:ext uri="{FF2B5EF4-FFF2-40B4-BE49-F238E27FC236}">
                <a16:creationId xmlns:a16="http://schemas.microsoft.com/office/drawing/2014/main" id="{4FE41DD2-B11D-74E1-EBB2-8D0F81A8E6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BD2CF1-082F-C6E6-756D-DC771AB86D5D}"/>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4030444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15EB4-FDE1-1508-5085-65DCB4930A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67D653-F094-CF8B-831D-AD5B64DA67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72417-B578-D447-0EFC-3C5994F56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11758B-66EE-F864-B67C-0C2B6421CAC5}"/>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6" name="Footer Placeholder 5">
            <a:extLst>
              <a:ext uri="{FF2B5EF4-FFF2-40B4-BE49-F238E27FC236}">
                <a16:creationId xmlns:a16="http://schemas.microsoft.com/office/drawing/2014/main" id="{8D98528E-E799-0EDC-614D-236DC7AEB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A95DFC-ED4B-A8C0-6CC1-3E812F5E9DF4}"/>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3236881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D2E7-D935-F550-56B0-A8DFAD92E55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A6EFEA-4812-E3D0-C65E-26963DB4A1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3B6D7-6C2B-8902-CC39-FA3BE00237E8}"/>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2DDC0D35-2D23-DC95-9825-769221EB4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4C435-7AEC-8947-F2F5-A72B3787A0AF}"/>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366386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2B83B4-7CF9-5335-9418-C64361F738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7734C5-F5C8-998A-F363-A3891D916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AB4AC1-7871-668B-F3EF-C3C4D9FBD84D}"/>
              </a:ext>
            </a:extLst>
          </p:cNvPr>
          <p:cNvSpPr>
            <a:spLocks noGrp="1"/>
          </p:cNvSpPr>
          <p:nvPr>
            <p:ph type="dt" sz="half" idx="10"/>
          </p:nvPr>
        </p:nvSpPr>
        <p:spPr/>
        <p:txBody>
          <a:body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A31B8CC4-F838-2F47-4188-0B1BDA2508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2EA2D-07FB-B040-6250-07F38AE929A9}"/>
              </a:ext>
            </a:extLst>
          </p:cNvPr>
          <p:cNvSpPr>
            <a:spLocks noGrp="1"/>
          </p:cNvSpPr>
          <p:nvPr>
            <p:ph type="sldNum" sz="quarter" idx="12"/>
          </p:nvPr>
        </p:nvSpPr>
        <p:spPr/>
        <p:txBody>
          <a:bodyPr/>
          <a:lstStyle/>
          <a:p>
            <a:fld id="{DC46E796-2E90-F445-BBF7-3EC3C8A2F5A3}" type="slidenum">
              <a:rPr lang="en-US" smtClean="0"/>
              <a:t>‹#›</a:t>
            </a:fld>
            <a:endParaRPr lang="en-US"/>
          </a:p>
        </p:txBody>
      </p:sp>
    </p:spTree>
    <p:extLst>
      <p:ext uri="{BB962C8B-B14F-4D97-AF65-F5344CB8AC3E}">
        <p14:creationId xmlns:p14="http://schemas.microsoft.com/office/powerpoint/2010/main" val="956362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0FA71C-7FB1-D3C3-D009-3D366184CC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341B57-0CCD-CD01-CC78-00B69CE9D2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9F44B-02D5-757B-B3A0-158E80441F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E4A907-FFA7-EA4B-8EEA-10ACE4298475}" type="datetimeFigureOut">
              <a:rPr lang="en-US" smtClean="0"/>
              <a:t>12/3/25</a:t>
            </a:fld>
            <a:endParaRPr lang="en-US"/>
          </a:p>
        </p:txBody>
      </p:sp>
      <p:sp>
        <p:nvSpPr>
          <p:cNvPr id="5" name="Footer Placeholder 4">
            <a:extLst>
              <a:ext uri="{FF2B5EF4-FFF2-40B4-BE49-F238E27FC236}">
                <a16:creationId xmlns:a16="http://schemas.microsoft.com/office/drawing/2014/main" id="{32CD1D6B-42BC-06FA-A2CB-07DE88EC5A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9632C0-2D1D-089B-68AD-88EC09C2EB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46E796-2E90-F445-BBF7-3EC3C8A2F5A3}" type="slidenum">
              <a:rPr lang="en-US" smtClean="0"/>
              <a:t>‹#›</a:t>
            </a:fld>
            <a:endParaRPr lang="en-US"/>
          </a:p>
        </p:txBody>
      </p:sp>
    </p:spTree>
    <p:extLst>
      <p:ext uri="{BB962C8B-B14F-4D97-AF65-F5344CB8AC3E}">
        <p14:creationId xmlns:p14="http://schemas.microsoft.com/office/powerpoint/2010/main" val="2513335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093/bioinformatics/bts44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711CE-DDC8-9F90-E482-65252CB47541}"/>
              </a:ext>
            </a:extLst>
          </p:cNvPr>
          <p:cNvSpPr>
            <a:spLocks noGrp="1"/>
          </p:cNvSpPr>
          <p:nvPr>
            <p:ph type="ctrTitle"/>
          </p:nvPr>
        </p:nvSpPr>
        <p:spPr>
          <a:xfrm>
            <a:off x="1674312" y="1786243"/>
            <a:ext cx="9144000" cy="2387600"/>
          </a:xfrm>
        </p:spPr>
        <p:txBody>
          <a:bodyPr>
            <a:normAutofit fontScale="90000"/>
          </a:bodyPr>
          <a:lstStyle/>
          <a:p>
            <a:r>
              <a:rPr lang="en-CA" dirty="0"/>
              <a:t>Optimizing Proteomic Workflows: Impact of Analytical Decisions and Software Tools</a:t>
            </a:r>
            <a:endParaRPr lang="en-US" dirty="0"/>
          </a:p>
        </p:txBody>
      </p:sp>
    </p:spTree>
    <p:extLst>
      <p:ext uri="{BB962C8B-B14F-4D97-AF65-F5344CB8AC3E}">
        <p14:creationId xmlns:p14="http://schemas.microsoft.com/office/powerpoint/2010/main" val="298442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5CDF-EEA0-9CBF-7AEA-93835ECC25FF}"/>
              </a:ext>
            </a:extLst>
          </p:cNvPr>
          <p:cNvSpPr>
            <a:spLocks noGrp="1"/>
          </p:cNvSpPr>
          <p:nvPr>
            <p:ph type="title"/>
          </p:nvPr>
        </p:nvSpPr>
        <p:spPr/>
        <p:txBody>
          <a:bodyPr/>
          <a:lstStyle/>
          <a:p>
            <a:r>
              <a:rPr lang="en-CA" b="0" i="0" dirty="0">
                <a:solidFill>
                  <a:srgbClr val="333333"/>
                </a:solidFill>
                <a:effectLst/>
                <a:latin typeface="Arial" panose="020B0604020202020204" pitchFamily="34" charset="0"/>
              </a:rPr>
              <a:t>Visualisation of proteomics data using R</a:t>
            </a:r>
            <a:endParaRPr lang="en-US" dirty="0"/>
          </a:p>
        </p:txBody>
      </p:sp>
      <p:pic>
        <p:nvPicPr>
          <p:cNvPr id="1026" name="Picture 2" descr="figure 1">
            <a:extLst>
              <a:ext uri="{FF2B5EF4-FFF2-40B4-BE49-F238E27FC236}">
                <a16:creationId xmlns:a16="http://schemas.microsoft.com/office/drawing/2014/main" id="{3F9DC707-39F5-6EF7-C5CD-F1419EE9F4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12826" y="1377537"/>
            <a:ext cx="4340974" cy="520409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703904C-A7A2-E7A4-73F5-CAE71B9687F1}"/>
              </a:ext>
            </a:extLst>
          </p:cNvPr>
          <p:cNvSpPr txBox="1"/>
          <p:nvPr/>
        </p:nvSpPr>
        <p:spPr>
          <a:xfrm>
            <a:off x="1189973" y="1528174"/>
            <a:ext cx="5273457" cy="4401205"/>
          </a:xfrm>
          <a:prstGeom prst="rect">
            <a:avLst/>
          </a:prstGeom>
          <a:noFill/>
        </p:spPr>
        <p:txBody>
          <a:bodyPr wrap="square" rtlCol="0">
            <a:spAutoFit/>
          </a:bodyPr>
          <a:lstStyle/>
          <a:p>
            <a:r>
              <a:rPr lang="en-CA" sz="2000" dirty="0">
                <a:latin typeface="Arial" panose="020B0604020202020204" pitchFamily="34" charset="0"/>
                <a:cs typeface="Arial" panose="020B0604020202020204" pitchFamily="34" charset="0"/>
              </a:rPr>
              <a:t>Mass spectrometry-based proteomics is a key tool for protein quantification, pathway analysis, protein characterization and visualization. </a:t>
            </a:r>
          </a:p>
          <a:p>
            <a:endParaRPr lang="en-CA" sz="2000" dirty="0">
              <a:latin typeface="Arial" panose="020B0604020202020204" pitchFamily="34" charset="0"/>
              <a:cs typeface="Arial" panose="020B0604020202020204" pitchFamily="34" charset="0"/>
            </a:endParaRPr>
          </a:p>
          <a:p>
            <a:endParaRPr lang="en-CA" sz="2000" dirty="0">
              <a:latin typeface="Arial" panose="020B0604020202020204" pitchFamily="34" charset="0"/>
              <a:cs typeface="Arial" panose="020B0604020202020204" pitchFamily="34" charset="0"/>
            </a:endParaRPr>
          </a:p>
          <a:p>
            <a:r>
              <a:rPr lang="en-CA" sz="2000" dirty="0">
                <a:latin typeface="Arial" panose="020B0604020202020204" pitchFamily="34" charset="0"/>
                <a:cs typeface="Arial" panose="020B0604020202020204" pitchFamily="34" charset="0"/>
              </a:rPr>
              <a:t>Through a modular plug-in interface, common open formats like </a:t>
            </a:r>
            <a:r>
              <a:rPr lang="en-CA" sz="2000" dirty="0" err="1">
                <a:latin typeface="Arial" panose="020B0604020202020204" pitchFamily="34" charset="0"/>
                <a:cs typeface="Arial" panose="020B0604020202020204" pitchFamily="34" charset="0"/>
              </a:rPr>
              <a:t>mzML</a:t>
            </a:r>
            <a:r>
              <a:rPr lang="en-CA" sz="2000" dirty="0">
                <a:latin typeface="Arial" panose="020B0604020202020204" pitchFamily="34" charset="0"/>
                <a:cs typeface="Arial" panose="020B0604020202020204" pitchFamily="34" charset="0"/>
              </a:rPr>
              <a:t>, </a:t>
            </a:r>
            <a:r>
              <a:rPr lang="en-CA" sz="2000" dirty="0" err="1">
                <a:latin typeface="Arial" panose="020B0604020202020204" pitchFamily="34" charset="0"/>
                <a:cs typeface="Arial" panose="020B0604020202020204" pitchFamily="34" charset="0"/>
              </a:rPr>
              <a:t>mzXML</a:t>
            </a:r>
            <a:r>
              <a:rPr lang="en-CA" sz="2000" dirty="0">
                <a:latin typeface="Arial" panose="020B0604020202020204" pitchFamily="34" charset="0"/>
                <a:cs typeface="Arial" panose="020B0604020202020204" pitchFamily="34" charset="0"/>
              </a:rPr>
              <a:t>, MGF, </a:t>
            </a:r>
            <a:r>
              <a:rPr lang="en-CA" sz="2000" dirty="0" err="1">
                <a:latin typeface="Arial" panose="020B0604020202020204" pitchFamily="34" charset="0"/>
                <a:cs typeface="Arial" panose="020B0604020202020204" pitchFamily="34" charset="0"/>
              </a:rPr>
              <a:t>pepXML</a:t>
            </a:r>
            <a:r>
              <a:rPr lang="en-CA" sz="2000" dirty="0">
                <a:latin typeface="Arial" panose="020B0604020202020204" pitchFamily="34" charset="0"/>
                <a:cs typeface="Arial" panose="020B0604020202020204" pitchFamily="34" charset="0"/>
              </a:rPr>
              <a:t>, and </a:t>
            </a:r>
            <a:r>
              <a:rPr lang="en-CA" sz="2000" dirty="0" err="1">
                <a:latin typeface="Arial" panose="020B0604020202020204" pitchFamily="34" charset="0"/>
                <a:cs typeface="Arial" panose="020B0604020202020204" pitchFamily="34" charset="0"/>
              </a:rPr>
              <a:t>mzIdentML</a:t>
            </a:r>
            <a:r>
              <a:rPr lang="en-CA" sz="2000" dirty="0">
                <a:latin typeface="Arial" panose="020B0604020202020204" pitchFamily="34" charset="0"/>
                <a:cs typeface="Arial" panose="020B0604020202020204" pitchFamily="34" charset="0"/>
              </a:rPr>
              <a:t> are converted into central </a:t>
            </a:r>
            <a:r>
              <a:rPr lang="en-CA" sz="2000" dirty="0" err="1">
                <a:latin typeface="Arial" panose="020B0604020202020204" pitchFamily="34" charset="0"/>
                <a:cs typeface="Arial" panose="020B0604020202020204" pitchFamily="34" charset="0"/>
              </a:rPr>
              <a:t>msData</a:t>
            </a:r>
            <a:r>
              <a:rPr lang="en-CA" sz="2000" dirty="0">
                <a:latin typeface="Arial" panose="020B0604020202020204" pitchFamily="34" charset="0"/>
                <a:cs typeface="Arial" panose="020B0604020202020204" pitchFamily="34" charset="0"/>
              </a:rPr>
              <a:t> structures, allowing seamless data processing and analysis across diverse datasets.</a:t>
            </a:r>
            <a:r>
              <a:rPr lang="en-CA" sz="2000" b="0" i="0" dirty="0">
                <a:effectLst/>
                <a:latin typeface="Arial" panose="020B0604020202020204" pitchFamily="34" charset="0"/>
                <a:cs typeface="Arial" panose="020B0604020202020204" pitchFamily="34" charset="0"/>
              </a:rPr>
              <a:t>(Chambers et al., 2012)</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9A009A9-44D2-8979-B454-2F9019D5CF1E}"/>
              </a:ext>
            </a:extLst>
          </p:cNvPr>
          <p:cNvSpPr txBox="1"/>
          <p:nvPr/>
        </p:nvSpPr>
        <p:spPr>
          <a:xfrm>
            <a:off x="7012826" y="6581630"/>
            <a:ext cx="6100174" cy="276999"/>
          </a:xfrm>
          <a:prstGeom prst="rect">
            <a:avLst/>
          </a:prstGeom>
          <a:noFill/>
        </p:spPr>
        <p:txBody>
          <a:bodyPr wrap="square">
            <a:spAutoFit/>
          </a:bodyPr>
          <a:lstStyle/>
          <a:p>
            <a:r>
              <a:rPr lang="en-CA" sz="1200" b="0" i="0" dirty="0">
                <a:solidFill>
                  <a:srgbClr val="2C3E50"/>
                </a:solidFill>
                <a:effectLst/>
                <a:latin typeface="Roboto" panose="02000000000000000000" pitchFamily="2" charset="0"/>
              </a:rPr>
              <a:t>(Chambers et al., 2012)</a:t>
            </a:r>
            <a:endParaRPr lang="en-US" sz="1200" dirty="0"/>
          </a:p>
        </p:txBody>
      </p:sp>
    </p:spTree>
    <p:extLst>
      <p:ext uri="{BB962C8B-B14F-4D97-AF65-F5344CB8AC3E}">
        <p14:creationId xmlns:p14="http://schemas.microsoft.com/office/powerpoint/2010/main" val="625776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56" name="Rectangle 3155">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58" name="Group 3157">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159" name="Rectangle 3158">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0" name="Rectangle 3159">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62" name="Rectangle 3161">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11D63A-8447-0CF4-63E4-D16CB6E82C37}"/>
              </a:ext>
            </a:extLst>
          </p:cNvPr>
          <p:cNvSpPr>
            <a:spLocks noGrp="1"/>
          </p:cNvSpPr>
          <p:nvPr>
            <p:ph type="title"/>
          </p:nvPr>
        </p:nvSpPr>
        <p:spPr>
          <a:xfrm>
            <a:off x="1057025" y="922644"/>
            <a:ext cx="5040285" cy="1169585"/>
          </a:xfrm>
        </p:spPr>
        <p:txBody>
          <a:bodyPr vert="horz" lIns="91440" tIns="45720" rIns="91440" bIns="45720" rtlCol="0" anchor="b">
            <a:normAutofit fontScale="90000"/>
          </a:bodyPr>
          <a:lstStyle/>
          <a:p>
            <a:r>
              <a:rPr lang="en-US" sz="2200" b="1" dirty="0" err="1"/>
              <a:t>MALDIquant</a:t>
            </a:r>
            <a:r>
              <a:rPr lang="en-US" sz="2200" b="1" dirty="0"/>
              <a:t>, BRAIN and MyclassifR are R packages to process and analyze different types of proteomic M1 mass-spectrometry data.</a:t>
            </a:r>
            <a:r>
              <a:rPr lang="en-US" sz="2200" dirty="0"/>
              <a:t> </a:t>
            </a:r>
          </a:p>
        </p:txBody>
      </p:sp>
      <p:sp>
        <p:nvSpPr>
          <p:cNvPr id="3164" name="Rectangle 3163">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D2AEEA4-CB09-0D2E-5088-7F7F175E7C21}"/>
              </a:ext>
            </a:extLst>
          </p:cNvPr>
          <p:cNvSpPr txBox="1"/>
          <p:nvPr/>
        </p:nvSpPr>
        <p:spPr>
          <a:xfrm>
            <a:off x="1055715" y="2508105"/>
            <a:ext cx="5040285" cy="3632493"/>
          </a:xfrm>
          <a:prstGeom prst="rect">
            <a:avLst/>
          </a:prstGeom>
        </p:spPr>
        <p:txBody>
          <a:bodyPr vert="horz" lIns="91440" tIns="45720" rIns="91440" bIns="45720" rtlCol="0" anchor="ctr">
            <a:normAutofit/>
          </a:bodyPr>
          <a:lstStyle/>
          <a:p>
            <a:pPr>
              <a:lnSpc>
                <a:spcPct val="90000"/>
              </a:lnSpc>
              <a:spcAft>
                <a:spcPts val="600"/>
              </a:spcAft>
            </a:pPr>
            <a:r>
              <a:rPr lang="en-US" sz="1400" b="1" dirty="0" err="1">
                <a:latin typeface="Arial" panose="020B0604020202020204" pitchFamily="34" charset="0"/>
                <a:cs typeface="Arial" panose="020B0604020202020204" pitchFamily="34" charset="0"/>
              </a:rPr>
              <a:t>MALDIquant</a:t>
            </a:r>
            <a:r>
              <a:rPr lang="en-US" sz="1400" b="1" dirty="0">
                <a:latin typeface="Arial" panose="020B0604020202020204" pitchFamily="34" charset="0"/>
                <a:cs typeface="Arial" panose="020B0604020202020204" pitchFamily="34" charset="0"/>
              </a:rPr>
              <a:t> </a:t>
            </a:r>
            <a:r>
              <a:rPr lang="en-CA" sz="1400" b="0" i="0" dirty="0">
                <a:effectLst/>
                <a:latin typeface="Arial" panose="020B0604020202020204" pitchFamily="34" charset="0"/>
                <a:cs typeface="Arial" panose="020B0604020202020204" pitchFamily="34" charset="0"/>
              </a:rPr>
              <a:t>(Gibb &amp; Strimmer, 2012)</a:t>
            </a: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Focused on MALDI-TOF spectra</a:t>
            </a: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Works with single or multiple spectra for peak detection, alignment, and preprocessing</a:t>
            </a: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Limited full LC-MS/MS workflows</a:t>
            </a:r>
          </a:p>
          <a:p>
            <a:pPr>
              <a:lnSpc>
                <a:spcPct val="90000"/>
              </a:lnSpc>
              <a:spcAft>
                <a:spcPts val="600"/>
              </a:spcAft>
            </a:pPr>
            <a:r>
              <a:rPr lang="en-US" sz="1400" b="1" dirty="0">
                <a:latin typeface="Arial" panose="020B0604020202020204" pitchFamily="34" charset="0"/>
                <a:cs typeface="Arial" panose="020B0604020202020204" pitchFamily="34" charset="0"/>
              </a:rPr>
              <a:t>BRAIN</a:t>
            </a:r>
            <a:endParaRPr lang="en-US" sz="1400" dirty="0">
              <a:latin typeface="Arial" panose="020B0604020202020204" pitchFamily="34" charset="0"/>
              <a:cs typeface="Arial" panose="020B0604020202020204" pitchFamily="34" charset="0"/>
            </a:endParaRP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Designed for peptide mass fingerprinting</a:t>
            </a: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Works with peptide sequences or mass lists</a:t>
            </a: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predicts theoretical spectra and interpreting MS results</a:t>
            </a:r>
          </a:p>
          <a:p>
            <a:pPr>
              <a:lnSpc>
                <a:spcPct val="90000"/>
              </a:lnSpc>
              <a:spcAft>
                <a:spcPts val="600"/>
              </a:spcAft>
            </a:pPr>
            <a:r>
              <a:rPr lang="en-US" sz="1400" b="1" dirty="0">
                <a:latin typeface="Arial" panose="020B0604020202020204" pitchFamily="34" charset="0"/>
                <a:cs typeface="Arial" panose="020B0604020202020204" pitchFamily="34" charset="0"/>
              </a:rPr>
              <a:t>MyclassifR</a:t>
            </a:r>
          </a:p>
          <a:p>
            <a:pPr indent="-228600">
              <a:lnSpc>
                <a:spcPct val="90000"/>
              </a:lnSpc>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Applied in peaks identification, and pattern classification workflows for MALDI-TOF profiles</a:t>
            </a:r>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endParaRPr lang="en-US" sz="1400" dirty="0"/>
          </a:p>
        </p:txBody>
      </p:sp>
      <p:pic>
        <p:nvPicPr>
          <p:cNvPr id="3082" name="Picture 10">
            <a:extLst>
              <a:ext uri="{FF2B5EF4-FFF2-40B4-BE49-F238E27FC236}">
                <a16:creationId xmlns:a16="http://schemas.microsoft.com/office/drawing/2014/main" id="{94CC708B-6735-697F-3667-DF2BF58D9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75" r="2" b="2"/>
          <a:stretch>
            <a:fillRect/>
          </a:stretch>
        </p:blipFill>
        <p:spPr bwMode="auto">
          <a:xfrm>
            <a:off x="6946672" y="774285"/>
            <a:ext cx="4389109" cy="2581173"/>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3">
            <a:extLst>
              <a:ext uri="{FF2B5EF4-FFF2-40B4-BE49-F238E27FC236}">
                <a16:creationId xmlns:a16="http://schemas.microsoft.com/office/drawing/2014/main" id="{1BC446EF-D713-B3F4-A602-ED06C0C6E8B2}"/>
              </a:ext>
            </a:extLst>
          </p:cNvPr>
          <p:cNvPicPr>
            <a:picLocks noChangeAspect="1"/>
          </p:cNvPicPr>
          <p:nvPr/>
        </p:nvPicPr>
        <p:blipFill>
          <a:blip r:embed="rId4"/>
          <a:srcRect l="2225" r="-4" b="-4"/>
          <a:stretch>
            <a:fillRect/>
          </a:stretch>
        </p:blipFill>
        <p:spPr>
          <a:xfrm>
            <a:off x="6675528" y="3415623"/>
            <a:ext cx="4660259" cy="2740623"/>
          </a:xfrm>
          <a:prstGeom prst="rect">
            <a:avLst/>
          </a:prstGeom>
        </p:spPr>
      </p:pic>
      <p:sp>
        <p:nvSpPr>
          <p:cNvPr id="17" name="TextBox 16">
            <a:extLst>
              <a:ext uri="{FF2B5EF4-FFF2-40B4-BE49-F238E27FC236}">
                <a16:creationId xmlns:a16="http://schemas.microsoft.com/office/drawing/2014/main" id="{EC8ED271-093F-D15B-940C-E49F67CF2ED3}"/>
              </a:ext>
            </a:extLst>
          </p:cNvPr>
          <p:cNvSpPr txBox="1"/>
          <p:nvPr/>
        </p:nvSpPr>
        <p:spPr>
          <a:xfrm>
            <a:off x="6946672" y="6104889"/>
            <a:ext cx="6100174" cy="276999"/>
          </a:xfrm>
          <a:prstGeom prst="rect">
            <a:avLst/>
          </a:prstGeom>
          <a:noFill/>
        </p:spPr>
        <p:txBody>
          <a:bodyPr wrap="square">
            <a:spAutoFit/>
          </a:bodyPr>
          <a:lstStyle/>
          <a:p>
            <a:r>
              <a:rPr lang="en-CA" sz="1200" b="0" i="1" dirty="0">
                <a:solidFill>
                  <a:srgbClr val="2C3E50"/>
                </a:solidFill>
                <a:effectLst/>
                <a:latin typeface="Roboto" panose="02000000000000000000" pitchFamily="2" charset="0"/>
              </a:rPr>
              <a:t>Using R for Proteomics Data Analysis</a:t>
            </a:r>
            <a:r>
              <a:rPr lang="en-CA" sz="1200" b="0" i="0" dirty="0">
                <a:solidFill>
                  <a:srgbClr val="2C3E50"/>
                </a:solidFill>
                <a:effectLst/>
                <a:latin typeface="Roboto" panose="02000000000000000000" pitchFamily="2" charset="0"/>
              </a:rPr>
              <a:t>, 2025</a:t>
            </a:r>
            <a:endParaRPr lang="en-US" sz="1200" dirty="0"/>
          </a:p>
        </p:txBody>
      </p:sp>
    </p:spTree>
    <p:extLst>
      <p:ext uri="{BB962C8B-B14F-4D97-AF65-F5344CB8AC3E}">
        <p14:creationId xmlns:p14="http://schemas.microsoft.com/office/powerpoint/2010/main" val="1953449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0" name="Rectangle 4109">
            <a:extLst>
              <a:ext uri="{FF2B5EF4-FFF2-40B4-BE49-F238E27FC236}">
                <a16:creationId xmlns:a16="http://schemas.microsoft.com/office/drawing/2014/main" id="{74B0B678-CD10-4371-96E5-2706F4579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12" name="Group 4111">
            <a:extLst>
              <a:ext uri="{FF2B5EF4-FFF2-40B4-BE49-F238E27FC236}">
                <a16:creationId xmlns:a16="http://schemas.microsoft.com/office/drawing/2014/main" id="{A9270323-9616-4384-857D-E86B78272E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108" name="Rectangle 4107">
              <a:extLst>
                <a:ext uri="{FF2B5EF4-FFF2-40B4-BE49-F238E27FC236}">
                  <a16:creationId xmlns:a16="http://schemas.microsoft.com/office/drawing/2014/main" id="{8A3838D5-9565-4601-BAC3-D1B5BDB80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3349A4B8-3246-4579-922E-FE1155C7F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11" name="Rectangle 4110">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30CDD-B678-3C66-3FAA-950330EF56F8}"/>
              </a:ext>
            </a:extLst>
          </p:cNvPr>
          <p:cNvSpPr>
            <a:spLocks noGrp="1"/>
          </p:cNvSpPr>
          <p:nvPr>
            <p:ph type="title"/>
          </p:nvPr>
        </p:nvSpPr>
        <p:spPr>
          <a:xfrm>
            <a:off x="5867475" y="847827"/>
            <a:ext cx="5408813" cy="1169585"/>
          </a:xfrm>
        </p:spPr>
        <p:txBody>
          <a:bodyPr anchor="b">
            <a:normAutofit/>
          </a:bodyPr>
          <a:lstStyle/>
          <a:p>
            <a:r>
              <a:rPr lang="en-CA" sz="2500"/>
              <a:t>MSnbase: An R Toolkit for Processing, Visualizing, and Quantifying LC-MS/MS Proteomics Data</a:t>
            </a:r>
            <a:endParaRPr lang="en-US" sz="2500"/>
          </a:p>
        </p:txBody>
      </p:sp>
      <p:pic>
        <p:nvPicPr>
          <p:cNvPr id="4098" name="Picture 2" descr="A m/z delta plot.">
            <a:extLst>
              <a:ext uri="{FF2B5EF4-FFF2-40B4-BE49-F238E27FC236}">
                <a16:creationId xmlns:a16="http://schemas.microsoft.com/office/drawing/2014/main" id="{3E5F2CA8-D573-2708-8EFA-C4BB4EE808D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14401" y="792027"/>
            <a:ext cx="4389120" cy="2545689"/>
          </a:xfrm>
          <a:prstGeom prst="rect">
            <a:avLst/>
          </a:prstGeom>
          <a:noFill/>
          <a:extLst>
            <a:ext uri="{909E8E84-426E-40DD-AFC4-6F175D3DCCD1}">
              <a14:hiddenFill xmlns:a14="http://schemas.microsoft.com/office/drawing/2010/main">
                <a:solidFill>
                  <a:srgbClr val="FFFFFF"/>
                </a:solidFill>
              </a14:hiddenFill>
            </a:ext>
          </a:extLst>
        </p:spPr>
      </p:pic>
      <p:sp>
        <p:nvSpPr>
          <p:cNvPr id="4113" name="Rectangle 4112">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57331" y="2188548"/>
            <a:ext cx="5041025"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Incomplete dissociation.">
            <a:extLst>
              <a:ext uri="{FF2B5EF4-FFF2-40B4-BE49-F238E27FC236}">
                <a16:creationId xmlns:a16="http://schemas.microsoft.com/office/drawing/2014/main" id="{94E56C62-3657-CE89-1C64-5B22470CD9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1" y="3729975"/>
            <a:ext cx="4389120" cy="227137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D433189-45AD-1E9C-ACE0-7DFA5E032EA7}"/>
              </a:ext>
            </a:extLst>
          </p:cNvPr>
          <p:cNvSpPr>
            <a:spLocks noGrp="1"/>
          </p:cNvSpPr>
          <p:nvPr>
            <p:ph idx="1"/>
          </p:nvPr>
        </p:nvSpPr>
        <p:spPr>
          <a:xfrm>
            <a:off x="5868786" y="2508105"/>
            <a:ext cx="5408813" cy="3632493"/>
          </a:xfrm>
        </p:spPr>
        <p:txBody>
          <a:bodyPr anchor="ctr">
            <a:normAutofit/>
          </a:bodyPr>
          <a:lstStyle/>
          <a:p>
            <a:pPr>
              <a:buNone/>
            </a:pPr>
            <a:r>
              <a:rPr lang="en-CA" sz="1400" dirty="0">
                <a:latin typeface="Arial" panose="020B0604020202020204" pitchFamily="34" charset="0"/>
                <a:cs typeface="Arial" panose="020B0604020202020204" pitchFamily="34" charset="0"/>
              </a:rPr>
              <a:t>      </a:t>
            </a:r>
            <a:r>
              <a:rPr lang="en-CA" sz="1400" dirty="0" err="1">
                <a:latin typeface="Arial" panose="020B0604020202020204" pitchFamily="34" charset="0"/>
                <a:cs typeface="Arial" panose="020B0604020202020204" pitchFamily="34" charset="0"/>
              </a:rPr>
              <a:t>MSnbase</a:t>
            </a:r>
            <a:r>
              <a:rPr lang="en-CA" sz="1400" dirty="0">
                <a:latin typeface="Arial" panose="020B0604020202020204" pitchFamily="34" charset="0"/>
                <a:cs typeface="Arial" panose="020B0604020202020204" pitchFamily="34" charset="0"/>
              </a:rPr>
              <a:t> provides a flexible and reproducible framework for mass spectrometry workflows. </a:t>
            </a:r>
            <a:r>
              <a:rPr lang="en-CA" sz="1400" i="1" dirty="0">
                <a:latin typeface="Arial" panose="020B0604020202020204" pitchFamily="34" charset="0"/>
                <a:cs typeface="Arial" panose="020B0604020202020204" pitchFamily="34" charset="0"/>
              </a:rPr>
              <a:t>(Gatto &amp; Lilley, 2012)</a:t>
            </a:r>
            <a:endParaRPr lang="en-CA"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Supports multiple MS formats (e.g., </a:t>
            </a:r>
            <a:r>
              <a:rPr lang="en-CA" sz="1400" dirty="0" err="1">
                <a:latin typeface="Arial" panose="020B0604020202020204" pitchFamily="34" charset="0"/>
                <a:cs typeface="Arial" panose="020B0604020202020204" pitchFamily="34" charset="0"/>
              </a:rPr>
              <a:t>mzML</a:t>
            </a:r>
            <a:r>
              <a:rPr lang="en-CA" sz="1400" dirty="0">
                <a:latin typeface="Arial" panose="020B0604020202020204" pitchFamily="34" charset="0"/>
                <a:cs typeface="Arial" panose="020B0604020202020204" pitchFamily="34" charset="0"/>
              </a:rPr>
              <a:t>, </a:t>
            </a:r>
            <a:r>
              <a:rPr lang="en-CA" sz="1400" dirty="0" err="1">
                <a:latin typeface="Arial" panose="020B0604020202020204" pitchFamily="34" charset="0"/>
                <a:cs typeface="Arial" panose="020B0604020202020204" pitchFamily="34" charset="0"/>
              </a:rPr>
              <a:t>mzXML</a:t>
            </a:r>
            <a:r>
              <a:rPr lang="en-CA" sz="1400" dirty="0">
                <a:latin typeface="Arial" panose="020B0604020202020204" pitchFamily="34" charset="0"/>
                <a:cs typeface="Arial" panose="020B0604020202020204" pitchFamily="34" charset="0"/>
              </a:rPr>
              <a:t>, </a:t>
            </a:r>
            <a:r>
              <a:rPr lang="en-CA" sz="1400" dirty="0" err="1">
                <a:latin typeface="Arial" panose="020B0604020202020204" pitchFamily="34" charset="0"/>
                <a:cs typeface="Arial" panose="020B0604020202020204" pitchFamily="34" charset="0"/>
              </a:rPr>
              <a:t>mzData</a:t>
            </a:r>
            <a:r>
              <a:rPr lang="en-CA" sz="1400" dirty="0">
                <a:latin typeface="Arial" panose="020B0604020202020204" pitchFamily="34" charset="0"/>
                <a:cs typeface="Arial" panose="020B0604020202020204" pitchFamily="34" charset="0"/>
              </a:rPr>
              <a:t>)</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Handles MS1 and MS2 spectra, including chromatograms and fragmentation data</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Peak detection, filtering, and preprocessing tools</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Quantitative analysis of peptides and proteins</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Visualization of spectra, chromatograms, and QC metrics</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Flexible data manipulation via efficient </a:t>
            </a:r>
            <a:r>
              <a:rPr lang="en-CA" sz="1400" dirty="0" err="1">
                <a:latin typeface="Arial" panose="020B0604020202020204" pitchFamily="34" charset="0"/>
                <a:cs typeface="Arial" panose="020B0604020202020204" pitchFamily="34" charset="0"/>
              </a:rPr>
              <a:t>MSnExp</a:t>
            </a:r>
            <a:r>
              <a:rPr lang="en-CA" sz="1400" dirty="0">
                <a:latin typeface="Arial" panose="020B0604020202020204" pitchFamily="34" charset="0"/>
                <a:cs typeface="Arial" panose="020B0604020202020204" pitchFamily="34" charset="0"/>
              </a:rPr>
              <a:t> and </a:t>
            </a:r>
            <a:r>
              <a:rPr lang="en-CA" sz="1400" dirty="0" err="1">
                <a:latin typeface="Arial" panose="020B0604020202020204" pitchFamily="34" charset="0"/>
                <a:cs typeface="Arial" panose="020B0604020202020204" pitchFamily="34" charset="0"/>
              </a:rPr>
              <a:t>OnDiskMSnExp</a:t>
            </a:r>
            <a:r>
              <a:rPr lang="en-CA" sz="1400" dirty="0">
                <a:latin typeface="Arial" panose="020B0604020202020204" pitchFamily="34" charset="0"/>
                <a:cs typeface="Arial" panose="020B0604020202020204" pitchFamily="34" charset="0"/>
              </a:rPr>
              <a:t> objects</a:t>
            </a:r>
          </a:p>
          <a:p>
            <a:pPr>
              <a:buFont typeface="Arial" panose="020B0604020202020204" pitchFamily="34" charset="0"/>
              <a:buChar char="•"/>
            </a:pPr>
            <a:r>
              <a:rPr lang="en-CA" sz="1400" dirty="0">
                <a:latin typeface="Arial" panose="020B0604020202020204" pitchFamily="34" charset="0"/>
                <a:cs typeface="Arial" panose="020B0604020202020204" pitchFamily="34" charset="0"/>
              </a:rPr>
              <a:t>Integration with other Bioconductor tools for downstream proteomics analysis</a:t>
            </a:r>
          </a:p>
          <a:p>
            <a:endParaRPr lang="en-US" sz="1400" dirty="0"/>
          </a:p>
        </p:txBody>
      </p:sp>
      <p:sp>
        <p:nvSpPr>
          <p:cNvPr id="7" name="TextBox 6">
            <a:extLst>
              <a:ext uri="{FF2B5EF4-FFF2-40B4-BE49-F238E27FC236}">
                <a16:creationId xmlns:a16="http://schemas.microsoft.com/office/drawing/2014/main" id="{60385EC5-67DE-B018-0BD3-B84D9AB9B3A4}"/>
              </a:ext>
            </a:extLst>
          </p:cNvPr>
          <p:cNvSpPr txBox="1"/>
          <p:nvPr/>
        </p:nvSpPr>
        <p:spPr>
          <a:xfrm>
            <a:off x="1178848" y="6053525"/>
            <a:ext cx="6100174" cy="276999"/>
          </a:xfrm>
          <a:prstGeom prst="rect">
            <a:avLst/>
          </a:prstGeom>
          <a:noFill/>
        </p:spPr>
        <p:txBody>
          <a:bodyPr wrap="square">
            <a:spAutoFit/>
          </a:bodyPr>
          <a:lstStyle/>
          <a:p>
            <a:r>
              <a:rPr lang="en-CA" sz="1200" b="0" i="1" dirty="0">
                <a:solidFill>
                  <a:srgbClr val="2C3E50"/>
                </a:solidFill>
                <a:effectLst/>
                <a:latin typeface="Roboto" panose="02000000000000000000" pitchFamily="2" charset="0"/>
              </a:rPr>
              <a:t>Using R for Proteomics Data Analysis</a:t>
            </a:r>
            <a:r>
              <a:rPr lang="en-CA" sz="1200" b="0" i="0" dirty="0">
                <a:solidFill>
                  <a:srgbClr val="2C3E50"/>
                </a:solidFill>
                <a:effectLst/>
                <a:latin typeface="Roboto" panose="02000000000000000000" pitchFamily="2" charset="0"/>
              </a:rPr>
              <a:t>, 2025</a:t>
            </a:r>
            <a:endParaRPr lang="en-US" sz="1200" dirty="0"/>
          </a:p>
        </p:txBody>
      </p:sp>
      <p:sp>
        <p:nvSpPr>
          <p:cNvPr id="15" name="TextBox 14">
            <a:extLst>
              <a:ext uri="{FF2B5EF4-FFF2-40B4-BE49-F238E27FC236}">
                <a16:creationId xmlns:a16="http://schemas.microsoft.com/office/drawing/2014/main" id="{C7050CCE-FDC9-7F4F-2483-DA64F2D45809}"/>
              </a:ext>
            </a:extLst>
          </p:cNvPr>
          <p:cNvSpPr txBox="1"/>
          <p:nvPr/>
        </p:nvSpPr>
        <p:spPr>
          <a:xfrm>
            <a:off x="1178848" y="3313467"/>
            <a:ext cx="6100174" cy="276999"/>
          </a:xfrm>
          <a:prstGeom prst="rect">
            <a:avLst/>
          </a:prstGeom>
          <a:noFill/>
        </p:spPr>
        <p:txBody>
          <a:bodyPr wrap="square">
            <a:spAutoFit/>
          </a:bodyPr>
          <a:lstStyle/>
          <a:p>
            <a:r>
              <a:rPr lang="en-CA" sz="1200" b="0" i="1" dirty="0">
                <a:solidFill>
                  <a:srgbClr val="2C3E50"/>
                </a:solidFill>
                <a:effectLst/>
                <a:latin typeface="Roboto" panose="02000000000000000000" pitchFamily="2" charset="0"/>
              </a:rPr>
              <a:t>Using R for Proteomics Data Analysis</a:t>
            </a:r>
            <a:r>
              <a:rPr lang="en-CA" sz="1200" b="0" i="0" dirty="0">
                <a:solidFill>
                  <a:srgbClr val="2C3E50"/>
                </a:solidFill>
                <a:effectLst/>
                <a:latin typeface="Roboto" panose="02000000000000000000" pitchFamily="2" charset="0"/>
              </a:rPr>
              <a:t>, 2025</a:t>
            </a:r>
            <a:endParaRPr lang="en-US" sz="1200" dirty="0"/>
          </a:p>
        </p:txBody>
      </p:sp>
    </p:spTree>
    <p:extLst>
      <p:ext uri="{BB962C8B-B14F-4D97-AF65-F5344CB8AC3E}">
        <p14:creationId xmlns:p14="http://schemas.microsoft.com/office/powerpoint/2010/main" val="1316853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E5F2-A1A4-6B70-B32F-AE381237B920}"/>
              </a:ext>
            </a:extLst>
          </p:cNvPr>
          <p:cNvSpPr>
            <a:spLocks noGrp="1"/>
          </p:cNvSpPr>
          <p:nvPr>
            <p:ph type="title"/>
          </p:nvPr>
        </p:nvSpPr>
        <p:spPr/>
        <p:txBody>
          <a:bodyPr>
            <a:normAutofit/>
          </a:bodyPr>
          <a:lstStyle/>
          <a:p>
            <a:r>
              <a:rPr lang="en-US" sz="4000" b="1" dirty="0"/>
              <a:t>Objectives</a:t>
            </a:r>
          </a:p>
        </p:txBody>
      </p:sp>
      <p:sp>
        <p:nvSpPr>
          <p:cNvPr id="3" name="Content Placeholder 2">
            <a:extLst>
              <a:ext uri="{FF2B5EF4-FFF2-40B4-BE49-F238E27FC236}">
                <a16:creationId xmlns:a16="http://schemas.microsoft.com/office/drawing/2014/main" id="{AB288AAC-48D1-49AE-ECEF-4F9C0587EECF}"/>
              </a:ext>
            </a:extLst>
          </p:cNvPr>
          <p:cNvSpPr>
            <a:spLocks noGrp="1"/>
          </p:cNvSpPr>
          <p:nvPr>
            <p:ph idx="1"/>
          </p:nvPr>
        </p:nvSpPr>
        <p:spPr>
          <a:xfrm>
            <a:off x="838200" y="1550052"/>
            <a:ext cx="10515600" cy="4351338"/>
          </a:xfrm>
        </p:spPr>
        <p:txBody>
          <a:bodyPr>
            <a:normAutofit/>
          </a:bodyPr>
          <a:lstStyle/>
          <a:p>
            <a:pPr marL="342900" lvl="0" indent="-342900">
              <a:lnSpc>
                <a:spcPct val="115000"/>
              </a:lnSpc>
              <a:spcAft>
                <a:spcPts val="800"/>
              </a:spcAft>
              <a:buFont typeface="Arial" panose="020B0604020202020204" pitchFamily="34" charset="0"/>
              <a:buChar char="•"/>
              <a:tabLst>
                <a:tab pos="457200" algn="l"/>
              </a:tabLst>
            </a:pP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Use the </a:t>
            </a:r>
            <a:r>
              <a:rPr lang="en-CA" sz="2000" kern="100" dirty="0" err="1">
                <a:effectLst/>
                <a:latin typeface="Aptos" panose="020B0004020202020204" pitchFamily="34" charset="0"/>
                <a:ea typeface="DengXian" panose="02010600030101010101" pitchFamily="2" charset="-122"/>
                <a:cs typeface="Times New Roman" panose="02020603050405020304" pitchFamily="18" charset="0"/>
              </a:rPr>
              <a:t>OrgMassSpecR</a:t>
            </a: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 package to evaluate how different missed-cleavage settings affect the accuracy and reliability of the analysis.</a:t>
            </a:r>
          </a:p>
          <a:p>
            <a:pPr marL="342900" lvl="0" indent="-342900">
              <a:lnSpc>
                <a:spcPct val="115000"/>
              </a:lnSpc>
              <a:spcAft>
                <a:spcPts val="800"/>
              </a:spcAft>
              <a:buFont typeface="Arial" panose="020B0604020202020204" pitchFamily="34" charset="0"/>
              <a:buChar char="•"/>
              <a:tabLst>
                <a:tab pos="457200" algn="l"/>
              </a:tabLst>
            </a:pP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Explore package </a:t>
            </a:r>
            <a:r>
              <a:rPr lang="en-CA" sz="2000" kern="100" dirty="0" err="1">
                <a:effectLst/>
                <a:latin typeface="Aptos" panose="020B0004020202020204" pitchFamily="34" charset="0"/>
                <a:ea typeface="DengXian" panose="02010600030101010101" pitchFamily="2" charset="-122"/>
                <a:cs typeface="Times New Roman" panose="02020603050405020304" pitchFamily="18" charset="0"/>
              </a:rPr>
              <a:t>MSnbase</a:t>
            </a: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 and </a:t>
            </a:r>
            <a:r>
              <a:rPr lang="en-CA" sz="2000" kern="100" dirty="0" err="1">
                <a:effectLst/>
                <a:latin typeface="Aptos" panose="020B0004020202020204" pitchFamily="34" charset="0"/>
                <a:ea typeface="DengXian" panose="02010600030101010101" pitchFamily="2" charset="-122"/>
                <a:cs typeface="Times New Roman" panose="02020603050405020304" pitchFamily="18" charset="0"/>
              </a:rPr>
              <a:t>MzTab</a:t>
            </a: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 and </a:t>
            </a:r>
            <a:r>
              <a:rPr lang="en-US" sz="2000" kern="100" dirty="0">
                <a:effectLst/>
                <a:latin typeface="Aptos" panose="020B0004020202020204" pitchFamily="34" charset="0"/>
                <a:ea typeface="DengXian" panose="02010600030101010101" pitchFamily="2" charset="-122"/>
                <a:cs typeface="Times New Roman" panose="02020603050405020304" pitchFamily="18" charset="0"/>
              </a:rPr>
              <a:t>investigate the effect of normalization choices on QC and spectra analysis</a:t>
            </a:r>
            <a:endParaRPr lang="en-CA" sz="2000" kern="100" dirty="0">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800"/>
              </a:spcAft>
              <a:buFont typeface="Arial" panose="020B0604020202020204" pitchFamily="34" charset="0"/>
              <a:buChar char="•"/>
              <a:tabLst>
                <a:tab pos="457200" algn="l"/>
              </a:tabLst>
            </a:pP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Demonstrate data-dependent acquisition (DDA) analysis workflows using the </a:t>
            </a:r>
            <a:r>
              <a:rPr lang="en-CA" sz="2000" kern="100" dirty="0" err="1">
                <a:effectLst/>
                <a:latin typeface="Aptos" panose="020B0004020202020204" pitchFamily="34" charset="0"/>
                <a:ea typeface="DengXian" panose="02010600030101010101" pitchFamily="2" charset="-122"/>
                <a:cs typeface="Times New Roman" panose="02020603050405020304" pitchFamily="18" charset="0"/>
              </a:rPr>
              <a:t>MSnbase</a:t>
            </a: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 package, highlighting in data processing, visualization, and interpretation.</a:t>
            </a:r>
          </a:p>
          <a:p>
            <a:pPr marL="342900" lvl="0" indent="-342900">
              <a:lnSpc>
                <a:spcPct val="115000"/>
              </a:lnSpc>
              <a:spcAft>
                <a:spcPts val="800"/>
              </a:spcAft>
              <a:buFont typeface="Arial" panose="020B0604020202020204" pitchFamily="34" charset="0"/>
              <a:buChar char="•"/>
              <a:tabLst>
                <a:tab pos="457200" algn="l"/>
              </a:tabLst>
            </a:pP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Apply MyclassifR to </a:t>
            </a:r>
            <a:r>
              <a:rPr lang="en-CA" sz="2000" kern="100" dirty="0" err="1">
                <a:effectLst/>
                <a:latin typeface="Aptos" panose="020B0004020202020204" pitchFamily="34" charset="0"/>
                <a:ea typeface="DengXian" panose="02010600030101010101" pitchFamily="2" charset="-122"/>
                <a:cs typeface="Times New Roman" panose="02020603050405020304" pitchFamily="18" charset="0"/>
              </a:rPr>
              <a:t>MALDIquant</a:t>
            </a:r>
            <a:r>
              <a:rPr lang="en-CA" sz="2000" kern="100" dirty="0">
                <a:effectLst/>
                <a:latin typeface="Aptos" panose="020B0004020202020204" pitchFamily="34" charset="0"/>
                <a:ea typeface="DengXian" panose="02010600030101010101" pitchFamily="2" charset="-122"/>
                <a:cs typeface="Times New Roman" panose="02020603050405020304" pitchFamily="18" charset="0"/>
              </a:rPr>
              <a:t>-processed spectra to evaluate classification performance, integrating robust quality control measures such as spectrum stabilization, and peak clustering checks. </a:t>
            </a:r>
          </a:p>
          <a:p>
            <a:endParaRPr lang="en-US" dirty="0"/>
          </a:p>
        </p:txBody>
      </p:sp>
    </p:spTree>
    <p:extLst>
      <p:ext uri="{BB962C8B-B14F-4D97-AF65-F5344CB8AC3E}">
        <p14:creationId xmlns:p14="http://schemas.microsoft.com/office/powerpoint/2010/main" val="130677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A768C-4A0A-516A-FC57-0E308079F2BE}"/>
              </a:ext>
            </a:extLst>
          </p:cNvPr>
          <p:cNvSpPr>
            <a:spLocks noGrp="1"/>
          </p:cNvSpPr>
          <p:nvPr>
            <p:ph type="title"/>
          </p:nvPr>
        </p:nvSpPr>
        <p:spPr>
          <a:xfrm>
            <a:off x="838200" y="189760"/>
            <a:ext cx="10515600" cy="1325563"/>
          </a:xfrm>
        </p:spPr>
        <p:txBody>
          <a:bodyPr/>
          <a:lstStyle/>
          <a:p>
            <a:r>
              <a:rPr lang="en-US" dirty="0"/>
              <a:t>Dataset for </a:t>
            </a:r>
            <a:r>
              <a:rPr lang="en-US" dirty="0" err="1"/>
              <a:t>MSnbase</a:t>
            </a:r>
            <a:r>
              <a:rPr lang="en-US" dirty="0"/>
              <a:t> analysis: </a:t>
            </a:r>
            <a:r>
              <a:rPr lang="en-CA" sz="4400" dirty="0"/>
              <a:t>PXD000001</a:t>
            </a:r>
            <a:endParaRPr lang="en-US" dirty="0"/>
          </a:p>
        </p:txBody>
      </p:sp>
      <p:sp>
        <p:nvSpPr>
          <p:cNvPr id="3" name="Content Placeholder 2">
            <a:extLst>
              <a:ext uri="{FF2B5EF4-FFF2-40B4-BE49-F238E27FC236}">
                <a16:creationId xmlns:a16="http://schemas.microsoft.com/office/drawing/2014/main" id="{0D8FA9DD-8BC0-8C84-1733-4BA159278250}"/>
              </a:ext>
            </a:extLst>
          </p:cNvPr>
          <p:cNvSpPr>
            <a:spLocks noGrp="1"/>
          </p:cNvSpPr>
          <p:nvPr>
            <p:ph idx="1"/>
          </p:nvPr>
        </p:nvSpPr>
        <p:spPr>
          <a:xfrm>
            <a:off x="838200" y="1253330"/>
            <a:ext cx="10515600" cy="5414909"/>
          </a:xfrm>
        </p:spPr>
        <p:txBody>
          <a:bodyPr>
            <a:normAutofit fontScale="25000" lnSpcReduction="20000"/>
          </a:bodyPr>
          <a:lstStyle/>
          <a:p>
            <a:pPr marL="0" indent="0" algn="just">
              <a:buNone/>
            </a:pPr>
            <a:r>
              <a:rPr lang="en-CA" sz="7200" dirty="0">
                <a:latin typeface="Arial" panose="020B0604020202020204" pitchFamily="34" charset="0"/>
                <a:cs typeface="Arial" panose="020B0604020202020204" pitchFamily="34" charset="0"/>
              </a:rPr>
              <a:t>PXD000001 is used because it is a publicly available, well-annotated LC–MS/MS DDA dataset containing TMT-labeled peptide quantification. Its compatibility with </a:t>
            </a:r>
            <a:r>
              <a:rPr lang="en-CA" sz="7200" dirty="0" err="1">
                <a:latin typeface="Arial" panose="020B0604020202020204" pitchFamily="34" charset="0"/>
                <a:cs typeface="Arial" panose="020B0604020202020204" pitchFamily="34" charset="0"/>
              </a:rPr>
              <a:t>MSnbase</a:t>
            </a:r>
            <a:r>
              <a:rPr lang="en-CA" sz="7200" dirty="0">
                <a:latin typeface="Arial" panose="020B0604020202020204" pitchFamily="34" charset="0"/>
                <a:cs typeface="Arial" panose="020B0604020202020204" pitchFamily="34" charset="0"/>
              </a:rPr>
              <a:t> makes it ideal for demonstrating peptide-level processing, protein summarization, and normalization in a reproducible DDA workflow.</a:t>
            </a:r>
          </a:p>
          <a:p>
            <a:pPr marL="0" indent="0" algn="just">
              <a:buNone/>
            </a:pPr>
            <a:endParaRPr lang="en-CA" sz="7200" dirty="0">
              <a:latin typeface="Arial" panose="020B0604020202020204" pitchFamily="34" charset="0"/>
              <a:cs typeface="Arial" panose="020B0604020202020204" pitchFamily="34" charset="0"/>
            </a:endParaRPr>
          </a:p>
          <a:p>
            <a:pPr>
              <a:buNone/>
            </a:pPr>
            <a:r>
              <a:rPr lang="en-CA" sz="7200" dirty="0">
                <a:latin typeface="Arial" panose="020B0604020202020204" pitchFamily="34" charset="0"/>
                <a:cs typeface="Arial" panose="020B0604020202020204" pitchFamily="34" charset="0"/>
              </a:rPr>
              <a:t>PXD000001 includes: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Raw LC–MS/MS spectra</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Processed </a:t>
            </a:r>
            <a:r>
              <a:rPr lang="en-CA" sz="7200" dirty="0" err="1">
                <a:latin typeface="Arial" panose="020B0604020202020204" pitchFamily="34" charset="0"/>
                <a:cs typeface="Arial" panose="020B0604020202020204" pitchFamily="34" charset="0"/>
              </a:rPr>
              <a:t>mzTab</a:t>
            </a:r>
            <a:r>
              <a:rPr lang="en-CA" sz="7200" dirty="0">
                <a:latin typeface="Arial" panose="020B0604020202020204" pitchFamily="34" charset="0"/>
                <a:cs typeface="Arial" panose="020B0604020202020204" pitchFamily="34" charset="0"/>
              </a:rPr>
              <a:t> peptide quantification files</a:t>
            </a:r>
          </a:p>
          <a:p>
            <a:pPr>
              <a:buFont typeface="Arial" panose="020B0604020202020204" pitchFamily="34" charset="0"/>
              <a:buChar char="•"/>
            </a:pPr>
            <a:endParaRPr lang="en-CA" sz="7200" dirty="0">
              <a:latin typeface="Arial" panose="020B0604020202020204" pitchFamily="34" charset="0"/>
              <a:cs typeface="Arial" panose="020B0604020202020204" pitchFamily="34" charset="0"/>
            </a:endParaRPr>
          </a:p>
          <a:p>
            <a:pPr marL="0" indent="0">
              <a:buNone/>
            </a:pPr>
            <a:r>
              <a:rPr lang="en-CA" sz="7200" dirty="0">
                <a:latin typeface="Arial" panose="020B0604020202020204" pitchFamily="34" charset="0"/>
                <a:cs typeface="Arial" panose="020B0604020202020204" pitchFamily="34" charset="0"/>
              </a:rPr>
              <a:t>Possible </a:t>
            </a:r>
            <a:r>
              <a:rPr lang="en-CA" sz="7200" b="1" dirty="0" err="1">
                <a:latin typeface="Arial" panose="020B0604020202020204" pitchFamily="34" charset="0"/>
                <a:cs typeface="Arial" panose="020B0604020202020204" pitchFamily="34" charset="0"/>
              </a:rPr>
              <a:t>MSnbase</a:t>
            </a:r>
            <a:r>
              <a:rPr lang="en-CA" sz="7200" dirty="0">
                <a:latin typeface="Arial" panose="020B0604020202020204" pitchFamily="34" charset="0"/>
                <a:cs typeface="Arial" panose="020B0604020202020204" pitchFamily="34" charset="0"/>
              </a:rPr>
              <a:t> and </a:t>
            </a:r>
            <a:r>
              <a:rPr lang="en-CA" sz="7200" b="1" dirty="0" err="1">
                <a:latin typeface="Arial" panose="020B0604020202020204" pitchFamily="34" charset="0"/>
                <a:cs typeface="Arial" panose="020B0604020202020204" pitchFamily="34" charset="0"/>
              </a:rPr>
              <a:t>OrgMassSpecR</a:t>
            </a:r>
            <a:r>
              <a:rPr lang="en-CA" sz="7200" dirty="0">
                <a:latin typeface="Arial" panose="020B0604020202020204" pitchFamily="34" charset="0"/>
                <a:cs typeface="Arial" panose="020B0604020202020204" pitchFamily="34" charset="0"/>
              </a:rPr>
              <a:t> analysis: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load and examine raw DDA spectra and peptide intensities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MS1 precursor scans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MS2 fragmentation scans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Chromatograms</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Peptide-to-protein aggregation</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Reporter ion quantification (TMT)</a:t>
            </a:r>
          </a:p>
          <a:p>
            <a:pPr>
              <a:buFont typeface="Arial" panose="020B0604020202020204" pitchFamily="34" charset="0"/>
              <a:buChar char="•"/>
            </a:pPr>
            <a:r>
              <a:rPr lang="en-CA" sz="7200" dirty="0">
                <a:latin typeface="Arial" panose="020B0604020202020204" pitchFamily="34" charset="0"/>
                <a:cs typeface="Arial" panose="020B0604020202020204" pitchFamily="34" charset="0"/>
              </a:rPr>
              <a:t>missed-cleavage analysis (</a:t>
            </a:r>
            <a:r>
              <a:rPr lang="en-CA" sz="7200" b="1" dirty="0" err="1">
                <a:latin typeface="Arial" panose="020B0604020202020204" pitchFamily="34" charset="0"/>
                <a:cs typeface="Arial" panose="020B0604020202020204" pitchFamily="34" charset="0"/>
              </a:rPr>
              <a:t>OrgMassSpecR</a:t>
            </a:r>
            <a:r>
              <a:rPr lang="en-CA" sz="7200" b="1" dirty="0">
                <a:latin typeface="Arial" panose="020B0604020202020204" pitchFamily="34" charset="0"/>
                <a:cs typeface="Arial" panose="020B0604020202020204" pitchFamily="34" charset="0"/>
              </a:rPr>
              <a:t> </a:t>
            </a:r>
            <a:r>
              <a:rPr lang="en-CA" sz="7200" dirty="0">
                <a:latin typeface="Arial" panose="020B0604020202020204" pitchFamily="34" charset="0"/>
                <a:cs typeface="Arial" panose="020B0604020202020204" pitchFamily="34" charset="0"/>
              </a:rPr>
              <a:t>package)</a:t>
            </a:r>
            <a:endParaRPr lang="en-CA" sz="1400" dirty="0">
              <a:latin typeface="Arial" panose="020B0604020202020204" pitchFamily="34" charset="0"/>
              <a:cs typeface="Arial" panose="020B0604020202020204" pitchFamily="34" charset="0"/>
            </a:endParaRPr>
          </a:p>
          <a:p>
            <a:pPr marL="0" indent="0">
              <a:buNone/>
            </a:pPr>
            <a:endParaRPr lang="en-US" sz="2000" dirty="0"/>
          </a:p>
        </p:txBody>
      </p:sp>
    </p:spTree>
    <p:extLst>
      <p:ext uri="{BB962C8B-B14F-4D97-AF65-F5344CB8AC3E}">
        <p14:creationId xmlns:p14="http://schemas.microsoft.com/office/powerpoint/2010/main" val="479727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F4386-AD29-C08B-AFBD-E61D6523C857}"/>
              </a:ext>
            </a:extLst>
          </p:cNvPr>
          <p:cNvSpPr>
            <a:spLocks noGrp="1"/>
          </p:cNvSpPr>
          <p:nvPr>
            <p:ph type="title"/>
          </p:nvPr>
        </p:nvSpPr>
        <p:spPr/>
        <p:txBody>
          <a:bodyPr/>
          <a:lstStyle/>
          <a:p>
            <a:r>
              <a:rPr lang="en-US" dirty="0"/>
              <a:t>Dataset for </a:t>
            </a:r>
            <a:r>
              <a:rPr lang="en-US" dirty="0" err="1"/>
              <a:t>MALDIquant</a:t>
            </a:r>
            <a:r>
              <a:rPr lang="en-US" dirty="0"/>
              <a:t> and MyclassifR</a:t>
            </a:r>
          </a:p>
        </p:txBody>
      </p:sp>
      <p:sp>
        <p:nvSpPr>
          <p:cNvPr id="3" name="Content Placeholder 2">
            <a:extLst>
              <a:ext uri="{FF2B5EF4-FFF2-40B4-BE49-F238E27FC236}">
                <a16:creationId xmlns:a16="http://schemas.microsoft.com/office/drawing/2014/main" id="{1D3370BE-3B1A-6430-7547-D67C754D5A55}"/>
              </a:ext>
            </a:extLst>
          </p:cNvPr>
          <p:cNvSpPr>
            <a:spLocks noGrp="1"/>
          </p:cNvSpPr>
          <p:nvPr>
            <p:ph idx="1"/>
          </p:nvPr>
        </p:nvSpPr>
        <p:spPr/>
        <p:txBody>
          <a:bodyPr>
            <a:normAutofit/>
          </a:bodyPr>
          <a:lstStyle/>
          <a:p>
            <a:pPr marL="0" indent="0" algn="just">
              <a:buNone/>
            </a:pPr>
            <a:r>
              <a:rPr lang="en-CA" sz="1900" dirty="0">
                <a:latin typeface="Arial" panose="020B0604020202020204" pitchFamily="34" charset="0"/>
                <a:cs typeface="Arial" panose="020B0604020202020204" pitchFamily="34" charset="0"/>
              </a:rPr>
              <a:t>The Bruker </a:t>
            </a:r>
            <a:r>
              <a:rPr lang="en-CA" sz="1900" i="1" dirty="0">
                <a:latin typeface="Arial" panose="020B0604020202020204" pitchFamily="34" charset="0"/>
                <a:cs typeface="Arial" panose="020B0604020202020204" pitchFamily="34" charset="0"/>
              </a:rPr>
              <a:t>“2010_05_19_Gibb_C8_A1”</a:t>
            </a:r>
            <a:r>
              <a:rPr lang="en-CA" sz="1900" dirty="0">
                <a:latin typeface="Arial" panose="020B0604020202020204" pitchFamily="34" charset="0"/>
                <a:cs typeface="Arial" panose="020B0604020202020204" pitchFamily="34" charset="0"/>
              </a:rPr>
              <a:t> dataset is used for </a:t>
            </a:r>
            <a:r>
              <a:rPr lang="en-CA" sz="1900" dirty="0" err="1">
                <a:latin typeface="Arial" panose="020B0604020202020204" pitchFamily="34" charset="0"/>
                <a:cs typeface="Arial" panose="020B0604020202020204" pitchFamily="34" charset="0"/>
              </a:rPr>
              <a:t>MALDIquant</a:t>
            </a:r>
            <a:r>
              <a:rPr lang="en-CA" sz="1900" dirty="0">
                <a:latin typeface="Arial" panose="020B0604020202020204" pitchFamily="34" charset="0"/>
                <a:cs typeface="Arial" panose="020B0604020202020204" pitchFamily="34" charset="0"/>
              </a:rPr>
              <a:t> because it provides MALDI-TOF spectra collected on a Bruker flex instrument (</a:t>
            </a:r>
            <a:r>
              <a:rPr lang="en-CA" sz="1900" dirty="0" err="1">
                <a:latin typeface="Arial" panose="020B0604020202020204" pitchFamily="34" charset="0"/>
                <a:cs typeface="Arial" panose="020B0604020202020204" pitchFamily="34" charset="0"/>
              </a:rPr>
              <a:t>MALDIquant</a:t>
            </a:r>
            <a:r>
              <a:rPr lang="en-CA" sz="1900" dirty="0">
                <a:latin typeface="Arial" panose="020B0604020202020204" pitchFamily="34" charset="0"/>
                <a:cs typeface="Arial" panose="020B0604020202020204" pitchFamily="34" charset="0"/>
              </a:rPr>
              <a:t> reads TOF data primarily), making it suitable for demonstrating basic TOF spectra preprocessing and analysis. </a:t>
            </a:r>
          </a:p>
          <a:p>
            <a:pPr algn="just"/>
            <a:endParaRPr lang="en-CA" sz="1900" dirty="0">
              <a:latin typeface="Arial" panose="020B0604020202020204" pitchFamily="34" charset="0"/>
              <a:cs typeface="Arial" panose="020B0604020202020204" pitchFamily="34" charset="0"/>
            </a:endParaRPr>
          </a:p>
          <a:p>
            <a:pPr algn="just">
              <a:buNone/>
            </a:pPr>
            <a:r>
              <a:rPr lang="en-CA" sz="1900" b="1" dirty="0" err="1">
                <a:latin typeface="Arial" panose="020B0604020202020204" pitchFamily="34" charset="0"/>
                <a:cs typeface="Arial" panose="020B0604020202020204" pitchFamily="34" charset="0"/>
              </a:rPr>
              <a:t>MALDIquant</a:t>
            </a:r>
            <a:r>
              <a:rPr lang="en-CA" sz="1900" dirty="0">
                <a:latin typeface="Arial" panose="020B0604020202020204" pitchFamily="34" charset="0"/>
                <a:cs typeface="Arial" panose="020B0604020202020204" pitchFamily="34" charset="0"/>
              </a:rPr>
              <a:t> analysis:</a:t>
            </a:r>
          </a:p>
          <a:p>
            <a:pPr algn="just">
              <a:buFont typeface="Arial" panose="020B0604020202020204" pitchFamily="34" charset="0"/>
              <a:buChar char="•"/>
            </a:pPr>
            <a:r>
              <a:rPr lang="en-CA" sz="1900" dirty="0">
                <a:latin typeface="Arial" panose="020B0604020202020204" pitchFamily="34" charset="0"/>
                <a:cs typeface="Arial" panose="020B0604020202020204" pitchFamily="34" charset="0"/>
              </a:rPr>
              <a:t>MS1 data</a:t>
            </a:r>
          </a:p>
          <a:p>
            <a:pPr algn="just">
              <a:buFont typeface="Arial" panose="020B0604020202020204" pitchFamily="34" charset="0"/>
              <a:buChar char="•"/>
            </a:pPr>
            <a:r>
              <a:rPr lang="en-CA" sz="1900" dirty="0">
                <a:latin typeface="Arial" panose="020B0604020202020204" pitchFamily="34" charset="0"/>
                <a:cs typeface="Arial" panose="020B0604020202020204" pitchFamily="34" charset="0"/>
              </a:rPr>
              <a:t>MALDI-TOF spectrum preprocessing (baseline, smoothing, calibration)</a:t>
            </a:r>
          </a:p>
          <a:p>
            <a:pPr algn="just">
              <a:buFont typeface="Arial" panose="020B0604020202020204" pitchFamily="34" charset="0"/>
              <a:buChar char="•"/>
            </a:pPr>
            <a:r>
              <a:rPr lang="en-CA" sz="1900" dirty="0">
                <a:latin typeface="Arial" panose="020B0604020202020204" pitchFamily="34" charset="0"/>
                <a:cs typeface="Arial" panose="020B0604020202020204" pitchFamily="34" charset="0"/>
              </a:rPr>
              <a:t>Peak detection and quantification</a:t>
            </a:r>
          </a:p>
          <a:p>
            <a:pPr algn="just">
              <a:buFont typeface="Arial" panose="020B0604020202020204" pitchFamily="34" charset="0"/>
              <a:buChar char="•"/>
            </a:pPr>
            <a:r>
              <a:rPr lang="en-CA" sz="1900" dirty="0">
                <a:latin typeface="Arial" panose="020B0604020202020204" pitchFamily="34" charset="0"/>
                <a:cs typeface="Arial" panose="020B0604020202020204" pitchFamily="34" charset="0"/>
              </a:rPr>
              <a:t>Spectral alignment and classification</a:t>
            </a:r>
          </a:p>
          <a:p>
            <a:pPr algn="just">
              <a:buFont typeface="Arial" panose="020B0604020202020204" pitchFamily="34" charset="0"/>
              <a:buChar char="•"/>
            </a:pPr>
            <a:r>
              <a:rPr lang="en-CA" sz="1900" dirty="0">
                <a:latin typeface="Arial" panose="020B0604020202020204" pitchFamily="34" charset="0"/>
                <a:cs typeface="Arial" panose="020B0604020202020204" pitchFamily="34" charset="0"/>
              </a:rPr>
              <a:t>The </a:t>
            </a:r>
            <a:r>
              <a:rPr lang="en-CA" sz="1900" dirty="0" err="1">
                <a:latin typeface="Arial" panose="020B0604020202020204" pitchFamily="34" charset="0"/>
                <a:cs typeface="Arial" panose="020B0604020202020204" pitchFamily="34" charset="0"/>
              </a:rPr>
              <a:t>resuklts</a:t>
            </a:r>
            <a:r>
              <a:rPr lang="en-CA" sz="1900" dirty="0">
                <a:latin typeface="Arial" panose="020B0604020202020204" pitchFamily="34" charset="0"/>
                <a:cs typeface="Arial" panose="020B0604020202020204" pitchFamily="34" charset="0"/>
              </a:rPr>
              <a:t> can be further qualified using </a:t>
            </a:r>
            <a:r>
              <a:rPr lang="en-CA" sz="1900" b="1" dirty="0">
                <a:latin typeface="Arial" panose="020B0604020202020204" pitchFamily="34" charset="0"/>
                <a:cs typeface="Arial" panose="020B0604020202020204" pitchFamily="34" charset="0"/>
              </a:rPr>
              <a:t>MyclassifR</a:t>
            </a:r>
            <a:r>
              <a:rPr lang="en-CA" sz="1900" dirty="0">
                <a:latin typeface="Arial" panose="020B0604020202020204" pitchFamily="34" charset="0"/>
                <a:cs typeface="Arial" panose="020B0604020202020204" pitchFamily="34" charset="0"/>
              </a:rPr>
              <a:t> package </a:t>
            </a:r>
          </a:p>
          <a:p>
            <a:pPr>
              <a:buFont typeface="Arial" panose="020B0604020202020204" pitchFamily="34" charset="0"/>
              <a:buChar char="•"/>
            </a:pPr>
            <a:endParaRPr lang="en-CA" dirty="0"/>
          </a:p>
          <a:p>
            <a:endParaRPr lang="en-US" dirty="0"/>
          </a:p>
        </p:txBody>
      </p:sp>
    </p:spTree>
    <p:extLst>
      <p:ext uri="{BB962C8B-B14F-4D97-AF65-F5344CB8AC3E}">
        <p14:creationId xmlns:p14="http://schemas.microsoft.com/office/powerpoint/2010/main" val="2617771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12E77-A45E-8809-C03B-DC7A0D2581D6}"/>
              </a:ext>
            </a:extLst>
          </p:cNvPr>
          <p:cNvSpPr>
            <a:spLocks noGrp="1"/>
          </p:cNvSpPr>
          <p:nvPr>
            <p:ph type="title"/>
          </p:nvPr>
        </p:nvSpPr>
        <p:spPr>
          <a:xfrm>
            <a:off x="838200" y="114604"/>
            <a:ext cx="11353800" cy="1325563"/>
          </a:xfrm>
        </p:spPr>
        <p:txBody>
          <a:bodyPr>
            <a:normAutofit/>
          </a:bodyPr>
          <a:lstStyle/>
          <a:p>
            <a:r>
              <a:rPr lang="en-US" sz="3200" b="1" dirty="0"/>
              <a:t>Pipeline for </a:t>
            </a:r>
            <a:r>
              <a:rPr lang="en-US" sz="3200" b="1" dirty="0" err="1"/>
              <a:t>MSnbase</a:t>
            </a:r>
            <a:r>
              <a:rPr lang="en-US" sz="3200" b="1" dirty="0"/>
              <a:t> aggregation and normalization comparison </a:t>
            </a:r>
          </a:p>
        </p:txBody>
      </p:sp>
      <p:sp>
        <p:nvSpPr>
          <p:cNvPr id="3" name="Content Placeholder 2">
            <a:extLst>
              <a:ext uri="{FF2B5EF4-FFF2-40B4-BE49-F238E27FC236}">
                <a16:creationId xmlns:a16="http://schemas.microsoft.com/office/drawing/2014/main" id="{4CF4C423-D24C-F83C-6840-83AB195A2D5B}"/>
              </a:ext>
            </a:extLst>
          </p:cNvPr>
          <p:cNvSpPr>
            <a:spLocks noGrp="1"/>
          </p:cNvSpPr>
          <p:nvPr>
            <p:ph idx="1"/>
          </p:nvPr>
        </p:nvSpPr>
        <p:spPr>
          <a:xfrm>
            <a:off x="838200" y="1253331"/>
            <a:ext cx="10515600" cy="4351338"/>
          </a:xfrm>
        </p:spPr>
        <p:txBody>
          <a:bodyPr>
            <a:noAutofit/>
          </a:bodyPr>
          <a:lstStyle/>
          <a:p>
            <a:pPr>
              <a:lnSpc>
                <a:spcPct val="115000"/>
              </a:lnSpc>
              <a:spcAft>
                <a:spcPts val="800"/>
              </a:spcAft>
              <a:buNone/>
            </a:pPr>
            <a:r>
              <a:rPr lang="en-CA" sz="1700" kern="100" dirty="0">
                <a:effectLst/>
                <a:latin typeface="Arial" panose="020B0604020202020204" pitchFamily="34" charset="0"/>
                <a:ea typeface="DengXian" panose="02010600030101010101" pitchFamily="2" charset="-122"/>
                <a:cs typeface="Arial" panose="020B0604020202020204" pitchFamily="34" charset="0"/>
              </a:rPr>
              <a:t>1. load </a:t>
            </a:r>
            <a:r>
              <a:rPr lang="en-CA" sz="1700" kern="100" dirty="0" err="1">
                <a:effectLst/>
                <a:latin typeface="Arial" panose="020B0604020202020204" pitchFamily="34" charset="0"/>
                <a:ea typeface="DengXian" panose="02010600030101010101" pitchFamily="2" charset="-122"/>
                <a:cs typeface="Arial" panose="020B0604020202020204" pitchFamily="34" charset="0"/>
              </a:rPr>
              <a:t>ProteomeXchange</a:t>
            </a:r>
            <a:r>
              <a:rPr lang="en-CA" sz="1700" kern="100" dirty="0">
                <a:effectLst/>
                <a:latin typeface="Arial" panose="020B0604020202020204" pitchFamily="34" charset="0"/>
                <a:ea typeface="DengXian" panose="02010600030101010101" pitchFamily="2" charset="-122"/>
                <a:cs typeface="Arial" panose="020B0604020202020204" pitchFamily="34" charset="0"/>
              </a:rPr>
              <a:t> dataset</a:t>
            </a:r>
          </a:p>
          <a:p>
            <a:pPr>
              <a:lnSpc>
                <a:spcPct val="115000"/>
              </a:lnSpc>
              <a:spcAft>
                <a:spcPts val="800"/>
              </a:spcAft>
              <a:buNone/>
            </a:pPr>
            <a:r>
              <a:rPr lang="en-CA" sz="1700" kern="100" dirty="0">
                <a:effectLst/>
                <a:latin typeface="Arial" panose="020B0604020202020204" pitchFamily="34" charset="0"/>
                <a:ea typeface="DengXian" panose="02010600030101010101" pitchFamily="2" charset="-122"/>
                <a:cs typeface="Arial" panose="020B0604020202020204" pitchFamily="34" charset="0"/>
              </a:rPr>
              <a:t>2. Read peptide-level quantification data and Assign TMT reporter channels</a:t>
            </a:r>
          </a:p>
          <a:p>
            <a:pPr>
              <a:lnSpc>
                <a:spcPct val="115000"/>
              </a:lnSpc>
              <a:spcAft>
                <a:spcPts val="800"/>
              </a:spcAft>
              <a:buNone/>
            </a:pPr>
            <a:r>
              <a:rPr lang="en-CA" sz="1700" kern="100" dirty="0">
                <a:effectLst/>
                <a:latin typeface="Arial" panose="020B0604020202020204" pitchFamily="34" charset="0"/>
                <a:ea typeface="DengXian" panose="02010600030101010101" pitchFamily="2" charset="-122"/>
                <a:cs typeface="Arial" panose="020B0604020202020204" pitchFamily="34" charset="0"/>
              </a:rPr>
              <a:t>3. Inspect peptide expression data</a:t>
            </a:r>
          </a:p>
          <a:p>
            <a:pPr>
              <a:lnSpc>
                <a:spcPct val="115000"/>
              </a:lnSpc>
              <a:spcAft>
                <a:spcPts val="800"/>
              </a:spcAft>
              <a:buNone/>
            </a:pPr>
            <a:r>
              <a:rPr lang="en-CA" sz="1700" kern="100" dirty="0">
                <a:effectLst/>
                <a:latin typeface="Arial" panose="020B0604020202020204" pitchFamily="34" charset="0"/>
                <a:ea typeface="DengXian" panose="02010600030101010101" pitchFamily="2" charset="-122"/>
                <a:cs typeface="Arial" panose="020B0604020202020204" pitchFamily="34" charset="0"/>
              </a:rPr>
              <a:t>4. Filter and preprocess peptide data</a:t>
            </a:r>
          </a:p>
          <a:p>
            <a:pPr>
              <a:lnSpc>
                <a:spcPct val="115000"/>
              </a:lnSpc>
              <a:spcAft>
                <a:spcPts val="800"/>
              </a:spcAft>
              <a:buNone/>
            </a:pPr>
            <a:r>
              <a:rPr lang="en-CA" sz="1700" kern="100" dirty="0">
                <a:effectLst/>
                <a:latin typeface="Arial" panose="020B0604020202020204" pitchFamily="34" charset="0"/>
                <a:ea typeface="DengXian" panose="02010600030101010101" pitchFamily="2" charset="-122"/>
                <a:cs typeface="Arial" panose="020B0604020202020204" pitchFamily="34" charset="0"/>
              </a:rPr>
              <a:t>5. Aggregate peptides to protein level, and plot protein-level intensities</a:t>
            </a:r>
          </a:p>
          <a:p>
            <a:pPr marL="342900" lvl="0" indent="-342900">
              <a:lnSpc>
                <a:spcPct val="115000"/>
              </a:lnSpc>
              <a:spcAft>
                <a:spcPts val="800"/>
              </a:spcAft>
              <a:buFont typeface="Arial" panose="020B0604020202020204" pitchFamily="34" charset="0"/>
              <a:buChar char="•"/>
              <a:tabLst>
                <a:tab pos="457200" algn="l"/>
              </a:tabLst>
            </a:pPr>
            <a:r>
              <a:rPr lang="en-CA" sz="1700" kern="100" dirty="0" err="1">
                <a:effectLst/>
                <a:latin typeface="Arial" panose="020B0604020202020204" pitchFamily="34" charset="0"/>
                <a:ea typeface="DengXian" panose="02010600030101010101" pitchFamily="2" charset="-122"/>
                <a:cs typeface="Arial" panose="020B0604020202020204" pitchFamily="34" charset="0"/>
              </a:rPr>
              <a:t>combineFeatures</a:t>
            </a:r>
            <a:r>
              <a:rPr lang="en-CA" sz="1700" kern="100" dirty="0">
                <a:effectLst/>
                <a:latin typeface="Arial" panose="020B0604020202020204" pitchFamily="34" charset="0"/>
                <a:ea typeface="DengXian" panose="02010600030101010101" pitchFamily="2" charset="-122"/>
                <a:cs typeface="Arial" panose="020B0604020202020204" pitchFamily="34" charset="0"/>
              </a:rPr>
              <a:t>() using sum, median, or mean</a:t>
            </a:r>
          </a:p>
          <a:p>
            <a:pPr marL="342900" lvl="0" indent="-342900">
              <a:lnSpc>
                <a:spcPct val="115000"/>
              </a:lnSpc>
              <a:spcAft>
                <a:spcPts val="800"/>
              </a:spcAft>
              <a:buFont typeface="Arial" panose="020B0604020202020204" pitchFamily="34" charset="0"/>
              <a:buChar char="•"/>
              <a:tabLst>
                <a:tab pos="457200" algn="l"/>
              </a:tabLst>
            </a:pPr>
            <a:r>
              <a:rPr lang="en-CA" sz="1700" kern="100" dirty="0">
                <a:effectLst/>
                <a:latin typeface="Arial" panose="020B0604020202020204" pitchFamily="34" charset="0"/>
                <a:ea typeface="DengXian" panose="02010600030101010101" pitchFamily="2" charset="-122"/>
                <a:cs typeface="Arial" panose="020B0604020202020204" pitchFamily="34" charset="0"/>
              </a:rPr>
              <a:t>Compare different aggregation methods</a:t>
            </a:r>
          </a:p>
          <a:p>
            <a:pPr>
              <a:lnSpc>
                <a:spcPct val="115000"/>
              </a:lnSpc>
              <a:spcAft>
                <a:spcPts val="800"/>
              </a:spcAft>
              <a:buNone/>
            </a:pPr>
            <a:r>
              <a:rPr lang="en-CA" sz="1700" kern="100" dirty="0">
                <a:latin typeface="Arial" panose="020B0604020202020204" pitchFamily="34" charset="0"/>
                <a:ea typeface="DengXian" panose="02010600030101010101" pitchFamily="2" charset="-122"/>
                <a:cs typeface="Arial" panose="020B0604020202020204" pitchFamily="34" charset="0"/>
              </a:rPr>
              <a:t>6</a:t>
            </a:r>
            <a:r>
              <a:rPr lang="en-CA" sz="1700" kern="100" dirty="0">
                <a:effectLst/>
                <a:latin typeface="Arial" panose="020B0604020202020204" pitchFamily="34" charset="0"/>
                <a:ea typeface="DengXian" panose="02010600030101010101" pitchFamily="2" charset="-122"/>
                <a:cs typeface="Arial" panose="020B0604020202020204" pitchFamily="34" charset="0"/>
              </a:rPr>
              <a:t>. Normalize peptide intensities (</a:t>
            </a:r>
            <a:r>
              <a:rPr lang="en-CA" sz="1700" kern="100" dirty="0" err="1">
                <a:effectLst/>
                <a:latin typeface="Arial" panose="020B0604020202020204" pitchFamily="34" charset="0"/>
                <a:ea typeface="DengXian" panose="02010600030101010101" pitchFamily="2" charset="-122"/>
                <a:cs typeface="Arial" panose="020B0604020202020204" pitchFamily="34" charset="0"/>
              </a:rPr>
              <a:t>DIV_median</a:t>
            </a:r>
            <a:r>
              <a:rPr lang="en-CA" sz="1700" kern="100" dirty="0">
                <a:effectLst/>
                <a:latin typeface="Arial" panose="020B0604020202020204" pitchFamily="34" charset="0"/>
                <a:ea typeface="DengXian" panose="02010600030101010101" pitchFamily="2" charset="-122"/>
                <a:cs typeface="Arial" panose="020B0604020202020204" pitchFamily="34" charset="0"/>
              </a:rPr>
              <a:t> versus VSN)</a:t>
            </a:r>
          </a:p>
          <a:p>
            <a:pPr>
              <a:lnSpc>
                <a:spcPct val="115000"/>
              </a:lnSpc>
              <a:spcAft>
                <a:spcPts val="800"/>
              </a:spcAft>
              <a:buNone/>
            </a:pPr>
            <a:r>
              <a:rPr lang="en-CA" sz="1700" kern="100" dirty="0">
                <a:latin typeface="Arial" panose="020B0604020202020204" pitchFamily="34" charset="0"/>
                <a:ea typeface="DengXian" panose="02010600030101010101" pitchFamily="2" charset="-122"/>
                <a:cs typeface="Arial" panose="020B0604020202020204" pitchFamily="34" charset="0"/>
              </a:rPr>
              <a:t>7</a:t>
            </a:r>
            <a:r>
              <a:rPr lang="en-CA" sz="1700" kern="100" dirty="0">
                <a:effectLst/>
                <a:latin typeface="Arial" panose="020B0604020202020204" pitchFamily="34" charset="0"/>
                <a:ea typeface="DengXian" panose="02010600030101010101" pitchFamily="2" charset="-122"/>
                <a:cs typeface="Arial" panose="020B0604020202020204" pitchFamily="34" charset="0"/>
              </a:rPr>
              <a:t>. Select subset of proteins of interest</a:t>
            </a:r>
            <a:r>
              <a:rPr lang="en-CA" sz="1700" kern="100" dirty="0">
                <a:latin typeface="Arial" panose="020B0604020202020204" pitchFamily="34" charset="0"/>
                <a:ea typeface="DengXian" panose="02010600030101010101" pitchFamily="2" charset="-122"/>
                <a:cs typeface="Arial" panose="020B0604020202020204" pitchFamily="34" charset="0"/>
              </a:rPr>
              <a:t>, and p</a:t>
            </a:r>
            <a:r>
              <a:rPr lang="en-CA" sz="1700" kern="100" dirty="0">
                <a:effectLst/>
                <a:latin typeface="Arial" panose="020B0604020202020204" pitchFamily="34" charset="0"/>
                <a:ea typeface="DengXian" panose="02010600030101010101" pitchFamily="2" charset="-122"/>
                <a:cs typeface="Arial" panose="020B0604020202020204" pitchFamily="34" charset="0"/>
              </a:rPr>
              <a:t>repare data for ggplot2</a:t>
            </a:r>
          </a:p>
          <a:p>
            <a:pPr>
              <a:lnSpc>
                <a:spcPct val="115000"/>
              </a:lnSpc>
              <a:spcAft>
                <a:spcPts val="800"/>
              </a:spcAft>
              <a:buNone/>
            </a:pPr>
            <a:r>
              <a:rPr lang="en-CA" sz="1700" kern="100" dirty="0">
                <a:latin typeface="Arial" panose="020B0604020202020204" pitchFamily="34" charset="0"/>
                <a:ea typeface="DengXian" panose="02010600030101010101" pitchFamily="2" charset="-122"/>
                <a:cs typeface="Arial" panose="020B0604020202020204" pitchFamily="34" charset="0"/>
              </a:rPr>
              <a:t>8</a:t>
            </a:r>
            <a:r>
              <a:rPr lang="en-CA" sz="1700" kern="100" dirty="0">
                <a:effectLst/>
                <a:latin typeface="Arial" panose="020B0604020202020204" pitchFamily="34" charset="0"/>
                <a:ea typeface="DengXian" panose="02010600030101010101" pitchFamily="2" charset="-122"/>
                <a:cs typeface="Arial" panose="020B0604020202020204" pitchFamily="34" charset="0"/>
              </a:rPr>
              <a:t>. Melt data to long format; Visualize peptide-level trends per protein</a:t>
            </a:r>
          </a:p>
        </p:txBody>
      </p:sp>
    </p:spTree>
    <p:extLst>
      <p:ext uri="{BB962C8B-B14F-4D97-AF65-F5344CB8AC3E}">
        <p14:creationId xmlns:p14="http://schemas.microsoft.com/office/powerpoint/2010/main" val="1025939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3C64-0104-2888-EC06-39DDCA847936}"/>
              </a:ext>
            </a:extLst>
          </p:cNvPr>
          <p:cNvSpPr>
            <a:spLocks noGrp="1"/>
          </p:cNvSpPr>
          <p:nvPr>
            <p:ph type="title"/>
          </p:nvPr>
        </p:nvSpPr>
        <p:spPr>
          <a:xfrm>
            <a:off x="838200" y="500062"/>
            <a:ext cx="10515600" cy="1325563"/>
          </a:xfrm>
        </p:spPr>
        <p:txBody>
          <a:bodyPr>
            <a:noAutofit/>
          </a:bodyPr>
          <a:lstStyle/>
          <a:p>
            <a:r>
              <a:rPr lang="en-US" sz="3600" b="1" dirty="0">
                <a:latin typeface="Arial" panose="020B0604020202020204" pitchFamily="34" charset="0"/>
                <a:cs typeface="Arial" panose="020B0604020202020204" pitchFamily="34" charset="0"/>
              </a:rPr>
              <a:t>Pipeline for </a:t>
            </a:r>
            <a:r>
              <a:rPr lang="en-CA" sz="3600" b="1" dirty="0">
                <a:latin typeface="Arial" panose="020B0604020202020204" pitchFamily="34" charset="0"/>
                <a:cs typeface="Arial" panose="020B0604020202020204" pitchFamily="34" charset="0"/>
              </a:rPr>
              <a:t>missed-cleavage analysis using </a:t>
            </a:r>
            <a:r>
              <a:rPr lang="en-CA" sz="3600" b="1" dirty="0" err="1">
                <a:latin typeface="Arial" panose="020B0604020202020204" pitchFamily="34" charset="0"/>
                <a:cs typeface="Arial" panose="020B0604020202020204" pitchFamily="34" charset="0"/>
              </a:rPr>
              <a:t>OrgMassSpecR</a:t>
            </a:r>
            <a:r>
              <a:rPr lang="en-CA" sz="3600" b="1" dirty="0">
                <a:latin typeface="Arial" panose="020B0604020202020204" pitchFamily="34" charset="0"/>
                <a:cs typeface="Arial" panose="020B0604020202020204" pitchFamily="34" charset="0"/>
              </a:rPr>
              <a:t> </a:t>
            </a:r>
            <a:br>
              <a:rPr lang="en-CA" sz="4000" dirty="0">
                <a:latin typeface="Arial" panose="020B0604020202020204" pitchFamily="34" charset="0"/>
                <a:cs typeface="Arial" panose="020B0604020202020204" pitchFamily="34" charset="0"/>
              </a:rPr>
            </a:br>
            <a:endParaRPr lang="en-US"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B0F8BAC-0186-CF05-A853-A15264704E11}"/>
              </a:ext>
            </a:extLst>
          </p:cNvPr>
          <p:cNvSpPr>
            <a:spLocks noGrp="1"/>
          </p:cNvSpPr>
          <p:nvPr>
            <p:ph idx="1"/>
          </p:nvPr>
        </p:nvSpPr>
        <p:spPr>
          <a:xfrm>
            <a:off x="838200" y="1534438"/>
            <a:ext cx="10515600" cy="5323562"/>
          </a:xfrm>
        </p:spPr>
        <p:txBody>
          <a:bodyPr>
            <a:normAutofit fontScale="55000" lnSpcReduction="20000"/>
          </a:bodyPr>
          <a:lstStyle/>
          <a:p>
            <a:pPr>
              <a:lnSpc>
                <a:spcPct val="115000"/>
              </a:lnSpc>
              <a:spcAft>
                <a:spcPts val="800"/>
              </a:spcAft>
              <a:buNone/>
            </a:pPr>
            <a:r>
              <a:rPr lang="en-CA" sz="2900" kern="100" dirty="0">
                <a:effectLst/>
                <a:latin typeface="Arial" panose="020B0604020202020204" pitchFamily="34" charset="0"/>
                <a:ea typeface="DengXian" panose="02010600030101010101" pitchFamily="2" charset="-122"/>
                <a:cs typeface="Arial" panose="020B0604020202020204" pitchFamily="34" charset="0"/>
              </a:rPr>
              <a:t>1. Load required packages and Retrieve experimental proteomics data</a:t>
            </a:r>
          </a:p>
          <a:p>
            <a:pPr>
              <a:lnSpc>
                <a:spcPct val="115000"/>
              </a:lnSpc>
              <a:spcAft>
                <a:spcPts val="800"/>
              </a:spcAft>
              <a:buNone/>
            </a:pPr>
            <a:r>
              <a:rPr lang="en-CA" sz="2900" kern="100" dirty="0">
                <a:effectLst/>
                <a:latin typeface="Arial" panose="020B0604020202020204" pitchFamily="34" charset="0"/>
                <a:ea typeface="DengXian" panose="02010600030101010101" pitchFamily="2" charset="-122"/>
                <a:cs typeface="Arial" panose="020B0604020202020204" pitchFamily="34" charset="0"/>
              </a:rPr>
              <a:t>2. Load target protein sequence from FASTA</a:t>
            </a:r>
          </a:p>
          <a:p>
            <a:pPr>
              <a:lnSpc>
                <a:spcPct val="115000"/>
              </a:lnSpc>
              <a:spcAft>
                <a:spcPts val="800"/>
              </a:spcAft>
              <a:buNone/>
            </a:pPr>
            <a:r>
              <a:rPr lang="en-CA" sz="2900" kern="100" dirty="0">
                <a:effectLst/>
                <a:latin typeface="Arial" panose="020B0604020202020204" pitchFamily="34" charset="0"/>
                <a:ea typeface="DengXian" panose="02010600030101010101" pitchFamily="2" charset="-122"/>
                <a:cs typeface="Arial" panose="020B0604020202020204" pitchFamily="34" charset="0"/>
              </a:rPr>
              <a:t>3. Digest protein with different missed-cleavage settings (MC0, MC1, MC2)</a:t>
            </a:r>
          </a:p>
          <a:p>
            <a:pPr>
              <a:lnSpc>
                <a:spcPct val="115000"/>
              </a:lnSpc>
              <a:spcAft>
                <a:spcPts val="800"/>
              </a:spcAft>
              <a:buNone/>
            </a:pPr>
            <a:r>
              <a:rPr lang="en-CA" sz="2900" kern="100" dirty="0">
                <a:effectLst/>
                <a:latin typeface="Arial" panose="020B0604020202020204" pitchFamily="34" charset="0"/>
                <a:ea typeface="DengXian" panose="02010600030101010101" pitchFamily="2" charset="-122"/>
                <a:cs typeface="Arial" panose="020B0604020202020204" pitchFamily="34" charset="0"/>
              </a:rPr>
              <a:t>4. Extract experimental peptides and compare theoretical vs experimental peptides:</a:t>
            </a:r>
          </a:p>
          <a:p>
            <a:pPr marL="342900" lvl="0" indent="-342900">
              <a:lnSpc>
                <a:spcPct val="115000"/>
              </a:lnSpc>
              <a:spcAft>
                <a:spcPts val="800"/>
              </a:spcAft>
              <a:buFont typeface="Arial" panose="020B0604020202020204" pitchFamily="34" charset="0"/>
              <a:buChar char="•"/>
              <a:tabLst>
                <a:tab pos="457200" algn="l"/>
              </a:tabLst>
            </a:pPr>
            <a:r>
              <a:rPr lang="en-CA" sz="2900" kern="100" dirty="0">
                <a:effectLst/>
                <a:latin typeface="Arial" panose="020B0604020202020204" pitchFamily="34" charset="0"/>
                <a:ea typeface="DengXian" panose="02010600030101010101" pitchFamily="2" charset="-122"/>
                <a:cs typeface="Arial" panose="020B0604020202020204" pitchFamily="34" charset="0"/>
              </a:rPr>
              <a:t>Count matches between filtered theoretical peptides and experimental peptides</a:t>
            </a:r>
          </a:p>
          <a:p>
            <a:pPr marL="342900" lvl="0" indent="-342900">
              <a:lnSpc>
                <a:spcPct val="115000"/>
              </a:lnSpc>
              <a:spcAft>
                <a:spcPts val="800"/>
              </a:spcAft>
              <a:buFont typeface="Arial" panose="020B0604020202020204" pitchFamily="34" charset="0"/>
              <a:buChar char="•"/>
              <a:tabLst>
                <a:tab pos="457200" algn="l"/>
              </a:tabLst>
            </a:pPr>
            <a:r>
              <a:rPr lang="en-CA" sz="2900" kern="100" dirty="0">
                <a:effectLst/>
                <a:latin typeface="Arial" panose="020B0604020202020204" pitchFamily="34" charset="0"/>
                <a:ea typeface="DengXian" panose="02010600030101010101" pitchFamily="2" charset="-122"/>
                <a:cs typeface="Arial" panose="020B0604020202020204" pitchFamily="34" charset="0"/>
              </a:rPr>
              <a:t>calculate sequence coverage: matched residues / total protein residues</a:t>
            </a:r>
          </a:p>
          <a:p>
            <a:pPr>
              <a:lnSpc>
                <a:spcPct val="115000"/>
              </a:lnSpc>
              <a:spcAft>
                <a:spcPts val="800"/>
              </a:spcAft>
              <a:buNone/>
            </a:pPr>
            <a:r>
              <a:rPr lang="en-CA" sz="2900" kern="100" dirty="0">
                <a:effectLst/>
                <a:latin typeface="Arial" panose="020B0604020202020204" pitchFamily="34" charset="0"/>
                <a:ea typeface="DengXian" panose="02010600030101010101" pitchFamily="2" charset="-122"/>
                <a:cs typeface="Arial" panose="020B0604020202020204" pitchFamily="34" charset="0"/>
              </a:rPr>
              <a:t>5. Plot results</a:t>
            </a:r>
          </a:p>
          <a:p>
            <a:pPr marL="342900" lvl="0" indent="-342900">
              <a:lnSpc>
                <a:spcPct val="115000"/>
              </a:lnSpc>
              <a:spcAft>
                <a:spcPts val="800"/>
              </a:spcAft>
              <a:buFont typeface="Arial" panose="020B0604020202020204" pitchFamily="34" charset="0"/>
              <a:buChar char="•"/>
              <a:tabLst>
                <a:tab pos="457200" algn="l"/>
              </a:tabLst>
            </a:pPr>
            <a:r>
              <a:rPr lang="en-CA" sz="2900" kern="100" dirty="0" err="1">
                <a:effectLst/>
                <a:latin typeface="Arial" panose="020B0604020202020204" pitchFamily="34" charset="0"/>
                <a:ea typeface="DengXian" panose="02010600030101010101" pitchFamily="2" charset="-122"/>
                <a:cs typeface="Arial" panose="020B0604020202020204" pitchFamily="34" charset="0"/>
              </a:rPr>
              <a:t>Barplot</a:t>
            </a:r>
            <a:r>
              <a:rPr lang="en-CA" sz="2900" kern="100" dirty="0">
                <a:effectLst/>
                <a:latin typeface="Arial" panose="020B0604020202020204" pitchFamily="34" charset="0"/>
                <a:ea typeface="DengXian" panose="02010600030101010101" pitchFamily="2" charset="-122"/>
                <a:cs typeface="Arial" panose="020B0604020202020204" pitchFamily="34" charset="0"/>
              </a:rPr>
              <a:t>: number of matched peptides vs missed cleavages</a:t>
            </a:r>
          </a:p>
          <a:p>
            <a:pPr marL="342900" lvl="0" indent="-342900">
              <a:lnSpc>
                <a:spcPct val="115000"/>
              </a:lnSpc>
              <a:spcAft>
                <a:spcPts val="800"/>
              </a:spcAft>
              <a:buFont typeface="Arial" panose="020B0604020202020204" pitchFamily="34" charset="0"/>
              <a:buChar char="•"/>
              <a:tabLst>
                <a:tab pos="457200" algn="l"/>
              </a:tabLst>
            </a:pPr>
            <a:r>
              <a:rPr lang="en-CA" sz="2900" kern="100" dirty="0">
                <a:effectLst/>
                <a:latin typeface="Arial" panose="020B0604020202020204" pitchFamily="34" charset="0"/>
                <a:ea typeface="DengXian" panose="02010600030101010101" pitchFamily="2" charset="-122"/>
                <a:cs typeface="Arial" panose="020B0604020202020204" pitchFamily="34" charset="0"/>
              </a:rPr>
              <a:t>Histogram: peptide length distributions</a:t>
            </a:r>
          </a:p>
          <a:p>
            <a:pPr marL="342900" lvl="0" indent="-342900">
              <a:lnSpc>
                <a:spcPct val="115000"/>
              </a:lnSpc>
              <a:spcAft>
                <a:spcPts val="800"/>
              </a:spcAft>
              <a:buFont typeface="Arial" panose="020B0604020202020204" pitchFamily="34" charset="0"/>
              <a:buChar char="•"/>
              <a:tabLst>
                <a:tab pos="457200" algn="l"/>
              </a:tabLst>
            </a:pPr>
            <a:r>
              <a:rPr lang="en-CA" sz="2900" kern="100" dirty="0">
                <a:effectLst/>
                <a:latin typeface="Arial" panose="020B0604020202020204" pitchFamily="34" charset="0"/>
                <a:ea typeface="DengXian" panose="02010600030101010101" pitchFamily="2" charset="-122"/>
                <a:cs typeface="Arial" panose="020B0604020202020204" pitchFamily="34" charset="0"/>
              </a:rPr>
              <a:t>Density plot: visualize length distribution differences across missed-cleavage settings</a:t>
            </a:r>
          </a:p>
          <a:p>
            <a:pPr marL="342900" lvl="0" indent="-342900">
              <a:lnSpc>
                <a:spcPct val="115000"/>
              </a:lnSpc>
              <a:spcAft>
                <a:spcPts val="800"/>
              </a:spcAft>
              <a:buFont typeface="Arial" panose="020B0604020202020204" pitchFamily="34" charset="0"/>
              <a:buChar char="•"/>
              <a:tabLst>
                <a:tab pos="457200" algn="l"/>
              </a:tabLst>
            </a:pPr>
            <a:r>
              <a:rPr lang="en-CA" sz="2900" kern="100" dirty="0">
                <a:effectLst/>
                <a:latin typeface="Arial" panose="020B0604020202020204" pitchFamily="34" charset="0"/>
                <a:ea typeface="DengXian" panose="02010600030101010101" pitchFamily="2" charset="-122"/>
                <a:cs typeface="Arial" panose="020B0604020202020204" pitchFamily="34" charset="0"/>
              </a:rPr>
              <a:t>Table of missed cleavages, theoretical peptides, filtered peptides, experimental matches</a:t>
            </a:r>
          </a:p>
          <a:p>
            <a:endParaRPr lang="en-US" dirty="0"/>
          </a:p>
        </p:txBody>
      </p:sp>
    </p:spTree>
    <p:extLst>
      <p:ext uri="{BB962C8B-B14F-4D97-AF65-F5344CB8AC3E}">
        <p14:creationId xmlns:p14="http://schemas.microsoft.com/office/powerpoint/2010/main" val="1012022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949A3-EC18-9EA4-4186-6F645EA7B07E}"/>
              </a:ext>
            </a:extLst>
          </p:cNvPr>
          <p:cNvSpPr>
            <a:spLocks noGrp="1"/>
          </p:cNvSpPr>
          <p:nvPr>
            <p:ph type="title"/>
          </p:nvPr>
        </p:nvSpPr>
        <p:spPr/>
        <p:txBody>
          <a:bodyPr>
            <a:normAutofit/>
          </a:bodyPr>
          <a:lstStyle/>
          <a:p>
            <a:r>
              <a:rPr lang="en-US" sz="3600" b="1" dirty="0"/>
              <a:t>Pipeline for </a:t>
            </a:r>
            <a:r>
              <a:rPr lang="en-US" sz="3600" b="1" dirty="0" err="1"/>
              <a:t>MSnbase</a:t>
            </a:r>
            <a:r>
              <a:rPr lang="en-US" sz="3600" b="1" dirty="0"/>
              <a:t> DDA analysis  </a:t>
            </a:r>
          </a:p>
        </p:txBody>
      </p:sp>
      <p:sp>
        <p:nvSpPr>
          <p:cNvPr id="3" name="Content Placeholder 2">
            <a:extLst>
              <a:ext uri="{FF2B5EF4-FFF2-40B4-BE49-F238E27FC236}">
                <a16:creationId xmlns:a16="http://schemas.microsoft.com/office/drawing/2014/main" id="{6FD75B63-0C78-FD4D-3C1D-377CF199C0DF}"/>
              </a:ext>
            </a:extLst>
          </p:cNvPr>
          <p:cNvSpPr>
            <a:spLocks noGrp="1"/>
          </p:cNvSpPr>
          <p:nvPr>
            <p:ph idx="1"/>
          </p:nvPr>
        </p:nvSpPr>
        <p:spPr>
          <a:xfrm>
            <a:off x="838200" y="1465545"/>
            <a:ext cx="10515600" cy="5027330"/>
          </a:xfrm>
        </p:spPr>
        <p:txBody>
          <a:bodyPr>
            <a:normAutofit fontScale="55000" lnSpcReduction="20000"/>
          </a:bodyPr>
          <a:lstStyle/>
          <a:p>
            <a:pPr marL="0" lvl="0" indent="0">
              <a:lnSpc>
                <a:spcPct val="115000"/>
              </a:lnSpc>
              <a:buNone/>
            </a:pPr>
            <a:r>
              <a:rPr lang="en-CA" sz="2600" kern="0" dirty="0">
                <a:effectLst/>
                <a:latin typeface="Arial" panose="020B0604020202020204" pitchFamily="34" charset="0"/>
                <a:ea typeface="Times New Roman" panose="02020603050405020304" pitchFamily="18" charset="0"/>
                <a:cs typeface="Arial" panose="020B0604020202020204" pitchFamily="34" charset="0"/>
              </a:rPr>
              <a:t>1. MS1 Pre-processing</a:t>
            </a:r>
          </a:p>
          <a:p>
            <a:pPr marL="0" lvl="0" indent="0">
              <a:lnSpc>
                <a:spcPct val="115000"/>
              </a:lnSpc>
              <a:buNone/>
            </a:pPr>
            <a:r>
              <a:rPr lang="en-CA" sz="2600" kern="0" dirty="0">
                <a:effectLst/>
                <a:latin typeface="Arial" panose="020B0604020202020204" pitchFamily="34" charset="0"/>
                <a:ea typeface="Times New Roman" panose="02020603050405020304" pitchFamily="18" charset="0"/>
                <a:cs typeface="Arial" panose="020B0604020202020204" pitchFamily="34" charset="0"/>
              </a:rPr>
              <a:t>2. MS2 Precursor Extraction</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0" lvl="0" indent="0">
              <a:lnSpc>
                <a:spcPct val="115000"/>
              </a:lnSpc>
              <a:buNone/>
            </a:pPr>
            <a:r>
              <a:rPr lang="en-CA" sz="2600" kern="0" dirty="0">
                <a:effectLst/>
                <a:latin typeface="Arial" panose="020B0604020202020204" pitchFamily="34" charset="0"/>
                <a:ea typeface="Times New Roman" panose="02020603050405020304" pitchFamily="18" charset="0"/>
                <a:cs typeface="Arial" panose="020B0604020202020204" pitchFamily="34" charset="0"/>
              </a:rPr>
              <a:t>3. MS2 → MS1 Matching (Precursor Validation)</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Symbol" pitchFamily="2" charset="2"/>
              <a:buChar char=""/>
            </a:pPr>
            <a:r>
              <a:rPr lang="en-CA" sz="2600" kern="0" dirty="0">
                <a:effectLst/>
                <a:latin typeface="Arial" panose="020B0604020202020204" pitchFamily="34" charset="0"/>
                <a:ea typeface="Times New Roman" panose="02020603050405020304" pitchFamily="18" charset="0"/>
                <a:cs typeface="Arial" panose="020B0604020202020204" pitchFamily="34" charset="0"/>
              </a:rPr>
              <a:t>Compute m/z tolerance. </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Symbol" pitchFamily="2" charset="2"/>
              <a:buChar char=""/>
            </a:pPr>
            <a:r>
              <a:rPr lang="en-CA" sz="2600" kern="0" dirty="0">
                <a:effectLst/>
                <a:latin typeface="Arial" panose="020B0604020202020204" pitchFamily="34" charset="0"/>
                <a:ea typeface="Times New Roman" panose="02020603050405020304" pitchFamily="18" charset="0"/>
                <a:cs typeface="Arial" panose="020B0604020202020204" pitchFamily="34" charset="0"/>
              </a:rPr>
              <a:t>Compare MS2 precursor m/z to MS1 peaks within m/z window.</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Symbol" pitchFamily="2" charset="2"/>
              <a:buChar char=""/>
            </a:pPr>
            <a:r>
              <a:rPr lang="en-CA" sz="2600" kern="0" dirty="0">
                <a:effectLst/>
                <a:latin typeface="Arial" panose="020B0604020202020204" pitchFamily="34" charset="0"/>
                <a:ea typeface="Times New Roman" panose="02020603050405020304" pitchFamily="18" charset="0"/>
                <a:cs typeface="Arial" panose="020B0604020202020204" pitchFamily="34" charset="0"/>
              </a:rPr>
              <a:t>Apply retention time tolerance </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0" lvl="0" indent="0">
              <a:lnSpc>
                <a:spcPct val="115000"/>
              </a:lnSpc>
              <a:spcAft>
                <a:spcPts val="800"/>
              </a:spcAft>
              <a:buNone/>
            </a:pPr>
            <a:r>
              <a:rPr lang="en-CA" sz="2600" kern="0" dirty="0">
                <a:effectLst/>
                <a:latin typeface="Arial" panose="020B0604020202020204" pitchFamily="34" charset="0"/>
                <a:ea typeface="Times New Roman" panose="02020603050405020304" pitchFamily="18" charset="0"/>
                <a:cs typeface="Arial" panose="020B0604020202020204" pitchFamily="34" charset="0"/>
              </a:rPr>
              <a:t>4. Spectrum Visualization</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2600" kern="0" dirty="0">
                <a:effectLst/>
                <a:latin typeface="Arial" panose="020B0604020202020204" pitchFamily="34" charset="0"/>
                <a:ea typeface="Times New Roman" panose="02020603050405020304" pitchFamily="18" charset="0"/>
                <a:cs typeface="Arial" panose="020B0604020202020204" pitchFamily="34" charset="0"/>
              </a:rPr>
              <a:t>Plot the first MS2 spectrum to inspect fragmentation quality.</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2600" kern="0" dirty="0">
                <a:effectLst/>
                <a:latin typeface="Arial" panose="020B0604020202020204" pitchFamily="34" charset="0"/>
                <a:ea typeface="Times New Roman" panose="02020603050405020304" pitchFamily="18" charset="0"/>
                <a:cs typeface="Arial" panose="020B0604020202020204" pitchFamily="34" charset="0"/>
              </a:rPr>
              <a:t>Generate Total Ion Chromatogram (TIC) from MS1 scans:</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0" lvl="0" indent="0">
              <a:lnSpc>
                <a:spcPct val="115000"/>
              </a:lnSpc>
              <a:spcAft>
                <a:spcPts val="800"/>
              </a:spcAft>
              <a:buNone/>
            </a:pPr>
            <a:r>
              <a:rPr lang="en-CA" sz="2600" kern="0" dirty="0">
                <a:effectLst/>
                <a:latin typeface="Arial" panose="020B0604020202020204" pitchFamily="34" charset="0"/>
                <a:ea typeface="Times New Roman" panose="02020603050405020304" pitchFamily="18" charset="0"/>
                <a:cs typeface="Arial" panose="020B0604020202020204" pitchFamily="34" charset="0"/>
              </a:rPr>
              <a:t>5. 3D MS1 Visualization</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2600" kern="0" dirty="0">
                <a:effectLst/>
                <a:latin typeface="Arial" panose="020B0604020202020204" pitchFamily="34" charset="0"/>
                <a:ea typeface="Times New Roman" panose="02020603050405020304" pitchFamily="18" charset="0"/>
                <a:cs typeface="Arial" panose="020B0604020202020204" pitchFamily="34" charset="0"/>
              </a:rPr>
              <a:t>Select first 50 MS1 spectra.</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2600" kern="0" dirty="0">
                <a:effectLst/>
                <a:latin typeface="Arial" panose="020B0604020202020204" pitchFamily="34" charset="0"/>
                <a:ea typeface="Times New Roman" panose="02020603050405020304" pitchFamily="18" charset="0"/>
                <a:cs typeface="Arial" panose="020B0604020202020204" pitchFamily="34" charset="0"/>
              </a:rPr>
              <a:t>Define a common m/z grid and interpolate each spectrum.</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2600" kern="0" dirty="0">
                <a:effectLst/>
                <a:latin typeface="Arial" panose="020B0604020202020204" pitchFamily="34" charset="0"/>
                <a:ea typeface="Times New Roman" panose="02020603050405020304" pitchFamily="18" charset="0"/>
                <a:cs typeface="Arial" panose="020B0604020202020204" pitchFamily="34" charset="0"/>
              </a:rPr>
              <a:t>Generate a 3D waterfall/surface plot (m/z × RT × intensity).</a:t>
            </a:r>
            <a:endParaRPr lang="en-CA" sz="2600" kern="100" dirty="0">
              <a:effectLst/>
              <a:latin typeface="Arial" panose="020B0604020202020204" pitchFamily="34" charset="0"/>
              <a:ea typeface="DengXian" panose="02010600030101010101" pitchFamily="2" charset="-122"/>
              <a:cs typeface="Arial" panose="020B0604020202020204" pitchFamily="34" charset="0"/>
            </a:endParaRPr>
          </a:p>
          <a:p>
            <a:endParaRPr lang="en-US" dirty="0"/>
          </a:p>
        </p:txBody>
      </p:sp>
    </p:spTree>
    <p:extLst>
      <p:ext uri="{BB962C8B-B14F-4D97-AF65-F5344CB8AC3E}">
        <p14:creationId xmlns:p14="http://schemas.microsoft.com/office/powerpoint/2010/main" val="3161538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0BC3-CF1E-0F2E-24D5-D69DD6AD2ACD}"/>
              </a:ext>
            </a:extLst>
          </p:cNvPr>
          <p:cNvSpPr>
            <a:spLocks noGrp="1"/>
          </p:cNvSpPr>
          <p:nvPr>
            <p:ph type="title"/>
          </p:nvPr>
        </p:nvSpPr>
        <p:spPr/>
        <p:txBody>
          <a:bodyPr>
            <a:normAutofit/>
          </a:bodyPr>
          <a:lstStyle/>
          <a:p>
            <a:r>
              <a:rPr lang="en-US" sz="3600" b="1" dirty="0"/>
              <a:t>Pipeline for </a:t>
            </a:r>
            <a:r>
              <a:rPr lang="en-US" sz="3600" b="1" dirty="0" err="1"/>
              <a:t>MALDIquant</a:t>
            </a:r>
            <a:r>
              <a:rPr lang="en-US" sz="3600" b="1" dirty="0"/>
              <a:t> and MyclassifR package</a:t>
            </a:r>
          </a:p>
        </p:txBody>
      </p:sp>
      <p:sp>
        <p:nvSpPr>
          <p:cNvPr id="3" name="Content Placeholder 2">
            <a:extLst>
              <a:ext uri="{FF2B5EF4-FFF2-40B4-BE49-F238E27FC236}">
                <a16:creationId xmlns:a16="http://schemas.microsoft.com/office/drawing/2014/main" id="{ADFEDBEF-B840-4C6E-6375-FC9F42CEDB52}"/>
              </a:ext>
            </a:extLst>
          </p:cNvPr>
          <p:cNvSpPr>
            <a:spLocks noGrp="1"/>
          </p:cNvSpPr>
          <p:nvPr>
            <p:ph idx="1"/>
          </p:nvPr>
        </p:nvSpPr>
        <p:spPr>
          <a:xfrm>
            <a:off x="838200" y="1490597"/>
            <a:ext cx="10515600" cy="4686366"/>
          </a:xfrm>
        </p:spPr>
        <p:txBody>
          <a:bodyPr>
            <a:normAutofit/>
          </a:bodyPr>
          <a:lstStyle/>
          <a:p>
            <a:pPr marL="342900" lvl="0" indent="-342900">
              <a:lnSpc>
                <a:spcPct val="115000"/>
              </a:lnSpc>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Load Libraries &amp; Dataset</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Preprocessing of Spectra</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For each spectrum: Variance Stabilization; Smoothing; Baseline Correction</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Peak Detection</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Alignment &amp; Matrix Generation</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Visualization of Preprocessing Effects</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Font typeface="+mj-lt"/>
              <a:buAutoNum type="arabicPeriod"/>
            </a:pPr>
            <a:r>
              <a:rPr lang="en-CA" sz="1800" kern="0" dirty="0">
                <a:effectLst/>
                <a:latin typeface="Arial" panose="020B0604020202020204" pitchFamily="34" charset="0"/>
                <a:ea typeface="Times New Roman" panose="02020603050405020304" pitchFamily="18" charset="0"/>
                <a:cs typeface="Arial" panose="020B0604020202020204" pitchFamily="34" charset="0"/>
              </a:rPr>
              <a:t>Exploratory Data Analysis (PCA)</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1800" kern="0" dirty="0">
                <a:effectLst/>
                <a:latin typeface="Arial" panose="020B0604020202020204" pitchFamily="34" charset="0"/>
                <a:ea typeface="Times New Roman" panose="02020603050405020304" pitchFamily="18" charset="0"/>
                <a:cs typeface="Arial" panose="020B0604020202020204" pitchFamily="34" charset="0"/>
              </a:rPr>
              <a:t>Visualize PC1 vs PC2 to observe clustering patterns.</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SzPts val="1000"/>
              <a:buFont typeface="Symbol" pitchFamily="2" charset="2"/>
              <a:buChar char=""/>
              <a:tabLst>
                <a:tab pos="457200" algn="l"/>
              </a:tabLst>
            </a:pPr>
            <a:r>
              <a:rPr lang="en-CA" sz="1800" kern="0" dirty="0">
                <a:effectLst/>
                <a:latin typeface="Arial" panose="020B0604020202020204" pitchFamily="34" charset="0"/>
                <a:ea typeface="Times New Roman" panose="02020603050405020304" pitchFamily="18" charset="0"/>
                <a:cs typeface="Arial" panose="020B0604020202020204" pitchFamily="34" charset="0"/>
              </a:rPr>
              <a:t>Assess spectral similarity and identify outliers.</a:t>
            </a:r>
            <a:endParaRPr lang="en-CA" sz="1800" kern="100" dirty="0">
              <a:effectLst/>
              <a:latin typeface="Arial" panose="020B060402020202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395156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A042C51-0ACE-419E-A039-04AD72522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1" name="Rectangle 2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8644C-7304-3D1F-37DA-A5EE509A841D}"/>
              </a:ext>
            </a:extLst>
          </p:cNvPr>
          <p:cNvSpPr>
            <a:spLocks noGrp="1"/>
          </p:cNvSpPr>
          <p:nvPr>
            <p:ph type="title"/>
          </p:nvPr>
        </p:nvSpPr>
        <p:spPr>
          <a:xfrm>
            <a:off x="1043631" y="873940"/>
            <a:ext cx="4928291" cy="1035781"/>
          </a:xfrm>
        </p:spPr>
        <p:txBody>
          <a:bodyPr vert="horz" lIns="91440" tIns="45720" rIns="91440" bIns="45720" rtlCol="0" anchor="ctr">
            <a:normAutofit fontScale="90000"/>
          </a:bodyPr>
          <a:lstStyle/>
          <a:p>
            <a:r>
              <a:rPr lang="en-CA" sz="2000" b="1" dirty="0"/>
              <a:t>Peptide length analysis confirms that missed cleavages options increase peptide length and distribution, which affects the detection possibility</a:t>
            </a:r>
            <a:endParaRPr lang="en-US" sz="2000" b="1" kern="1200" dirty="0">
              <a:solidFill>
                <a:schemeClr val="tx1"/>
              </a:solidFill>
              <a:latin typeface="+mj-lt"/>
              <a:ea typeface="+mj-ea"/>
              <a:cs typeface="+mj-cs"/>
            </a:endParaRPr>
          </a:p>
        </p:txBody>
      </p:sp>
      <p:sp>
        <p:nvSpPr>
          <p:cNvPr id="13" name="TextBox 12">
            <a:extLst>
              <a:ext uri="{FF2B5EF4-FFF2-40B4-BE49-F238E27FC236}">
                <a16:creationId xmlns:a16="http://schemas.microsoft.com/office/drawing/2014/main" id="{024EF997-5469-1282-7655-B54A9DB775D8}"/>
              </a:ext>
            </a:extLst>
          </p:cNvPr>
          <p:cNvSpPr txBox="1"/>
          <p:nvPr/>
        </p:nvSpPr>
        <p:spPr>
          <a:xfrm>
            <a:off x="1045029" y="2524721"/>
            <a:ext cx="4991629" cy="3967514"/>
          </a:xfrm>
          <a:prstGeom prst="rect">
            <a:avLst/>
          </a:prstGeom>
        </p:spPr>
        <p:txBody>
          <a:bodyPr vert="horz" lIns="91440" tIns="45720" rIns="91440" bIns="45720" rtlCol="0" anchor="ctr">
            <a:noAutofit/>
          </a:bodyPr>
          <a:lstStyle/>
          <a:p>
            <a:pPr algn="just">
              <a:lnSpc>
                <a:spcPct val="90000"/>
              </a:lnSpc>
              <a:spcAft>
                <a:spcPts val="600"/>
              </a:spcAft>
            </a:pPr>
            <a:r>
              <a:rPr lang="en-US" sz="1600" b="1" dirty="0">
                <a:latin typeface="Arial" panose="020B0604020202020204" pitchFamily="34" charset="0"/>
                <a:cs typeface="Arial" panose="020B0604020202020204" pitchFamily="34" charset="0"/>
              </a:rPr>
              <a:t>Bar Plot </a:t>
            </a:r>
            <a:r>
              <a:rPr lang="en-US" sz="1600" dirty="0">
                <a:latin typeface="Arial" panose="020B0604020202020204" pitchFamily="34" charset="0"/>
                <a:cs typeface="Arial" panose="020B0604020202020204" pitchFamily="34" charset="0"/>
              </a:rPr>
              <a:t>: MC0 has the least matches due to the strict digestion misses peptides observed in reality</a:t>
            </a:r>
          </a:p>
          <a:p>
            <a:pPr algn="just">
              <a:lnSpc>
                <a:spcPct val="90000"/>
              </a:lnSpc>
              <a:spcAft>
                <a:spcPts val="600"/>
              </a:spcAft>
            </a:pPr>
            <a:endParaRPr lang="en-US" sz="1600" dirty="0">
              <a:latin typeface="Arial" panose="020B0604020202020204" pitchFamily="34" charset="0"/>
              <a:cs typeface="Arial" panose="020B0604020202020204" pitchFamily="34" charset="0"/>
            </a:endParaRPr>
          </a:p>
          <a:p>
            <a:pPr algn="just">
              <a:lnSpc>
                <a:spcPct val="90000"/>
              </a:lnSpc>
              <a:spcAft>
                <a:spcPts val="600"/>
              </a:spcAft>
            </a:pPr>
            <a:r>
              <a:rPr lang="en-US" sz="1600" b="1" dirty="0">
                <a:latin typeface="Arial" panose="020B0604020202020204" pitchFamily="34" charset="0"/>
                <a:cs typeface="Arial" panose="020B0604020202020204" pitchFamily="34" charset="0"/>
              </a:rPr>
              <a:t>Histogram</a:t>
            </a:r>
            <a:r>
              <a:rPr lang="en-US" sz="1600" dirty="0">
                <a:latin typeface="Arial" panose="020B0604020202020204" pitchFamily="34" charset="0"/>
                <a:cs typeface="Arial" panose="020B0604020202020204" pitchFamily="34" charset="0"/>
              </a:rPr>
              <a:t>: shows the frequency of theoretical peptide lengths for each MC. MC2 has the longest peptides, and MC1 has the middle length; while MC0 showed the shortest peptides, a narrower distribution.</a:t>
            </a:r>
          </a:p>
          <a:p>
            <a:pPr algn="just">
              <a:lnSpc>
                <a:spcPct val="90000"/>
              </a:lnSpc>
              <a:spcAft>
                <a:spcPts val="600"/>
              </a:spcAft>
            </a:pPr>
            <a:endParaRPr lang="en-US" sz="1600" dirty="0">
              <a:latin typeface="Arial" panose="020B0604020202020204" pitchFamily="34" charset="0"/>
              <a:cs typeface="Arial" panose="020B0604020202020204" pitchFamily="34" charset="0"/>
            </a:endParaRPr>
          </a:p>
          <a:p>
            <a:pPr algn="just">
              <a:lnSpc>
                <a:spcPct val="90000"/>
              </a:lnSpc>
              <a:spcAft>
                <a:spcPts val="600"/>
              </a:spcAft>
            </a:pPr>
            <a:r>
              <a:rPr lang="en-US" sz="1600" b="1" dirty="0">
                <a:latin typeface="Arial" panose="020B0604020202020204" pitchFamily="34" charset="0"/>
                <a:cs typeface="Arial" panose="020B0604020202020204" pitchFamily="34" charset="0"/>
              </a:rPr>
              <a:t>Density plot</a:t>
            </a:r>
            <a:r>
              <a:rPr lang="en-US" sz="1600" dirty="0">
                <a:latin typeface="Arial" panose="020B0604020202020204" pitchFamily="34" charset="0"/>
                <a:cs typeface="Arial" panose="020B0604020202020204" pitchFamily="34" charset="0"/>
              </a:rPr>
              <a:t>: MC0 as expected, has the peaks at shorter lengths; while MC1’s peak shifts right, a broader distribution, and MC2 is further right, more and the most spread. </a:t>
            </a:r>
          </a:p>
          <a:p>
            <a:pPr algn="just">
              <a:lnSpc>
                <a:spcPct val="90000"/>
              </a:lnSpc>
              <a:spcAft>
                <a:spcPts val="600"/>
              </a:spcAft>
            </a:pPr>
            <a:endParaRPr lang="en-US" sz="1600" dirty="0">
              <a:latin typeface="Arial" panose="020B0604020202020204" pitchFamily="34" charset="0"/>
              <a:cs typeface="Arial" panose="020B0604020202020204" pitchFamily="34" charset="0"/>
            </a:endParaRPr>
          </a:p>
          <a:p>
            <a:pPr algn="just">
              <a:lnSpc>
                <a:spcPct val="90000"/>
              </a:lnSpc>
              <a:spcAft>
                <a:spcPts val="600"/>
              </a:spcAft>
            </a:pPr>
            <a:r>
              <a:rPr lang="en-CA" sz="1600" dirty="0">
                <a:latin typeface="Arial" panose="020B0604020202020204" pitchFamily="34" charset="0"/>
                <a:cs typeface="Arial" panose="020B0604020202020204" pitchFamily="34" charset="0"/>
              </a:rPr>
              <a:t>Longer peptides correspond to higher missed-cleavage numbers, but may include unmatched very long peptides</a:t>
            </a:r>
          </a:p>
          <a:p>
            <a:pPr algn="just">
              <a:lnSpc>
                <a:spcPct val="90000"/>
              </a:lnSpc>
              <a:spcAft>
                <a:spcPts val="600"/>
              </a:spcAft>
            </a:pPr>
            <a:endParaRPr lang="en-US" sz="1600" dirty="0"/>
          </a:p>
        </p:txBody>
      </p:sp>
      <p:pic>
        <p:nvPicPr>
          <p:cNvPr id="7" name="Picture 6" descr="A graph of different colored lines&#10;&#10;AI-generated content may be incorrect.">
            <a:extLst>
              <a:ext uri="{FF2B5EF4-FFF2-40B4-BE49-F238E27FC236}">
                <a16:creationId xmlns:a16="http://schemas.microsoft.com/office/drawing/2014/main" id="{3A33109D-ECE7-140D-2A35-2EC94F0D1231}"/>
              </a:ext>
            </a:extLst>
          </p:cNvPr>
          <p:cNvPicPr>
            <a:picLocks noChangeAspect="1"/>
          </p:cNvPicPr>
          <p:nvPr/>
        </p:nvPicPr>
        <p:blipFill>
          <a:blip r:embed="rId2"/>
          <a:srcRect r="9354" b="-5"/>
          <a:stretch>
            <a:fillRect/>
          </a:stretch>
        </p:blipFill>
        <p:spPr>
          <a:xfrm>
            <a:off x="9220822" y="623309"/>
            <a:ext cx="2314015" cy="2227434"/>
          </a:xfrm>
          <a:prstGeom prst="rect">
            <a:avLst/>
          </a:prstGeom>
        </p:spPr>
      </p:pic>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7" name="Content Placeholder 16" descr="A graph of a number of missing clavages&#10;&#10;AI-generated content may be incorrect.">
            <a:extLst>
              <a:ext uri="{FF2B5EF4-FFF2-40B4-BE49-F238E27FC236}">
                <a16:creationId xmlns:a16="http://schemas.microsoft.com/office/drawing/2014/main" id="{C64E6A8E-CAAB-F0F0-64DD-3028B38E44D9}"/>
              </a:ext>
            </a:extLst>
          </p:cNvPr>
          <p:cNvPicPr>
            <a:picLocks noGrp="1" noChangeAspect="1"/>
          </p:cNvPicPr>
          <p:nvPr>
            <p:ph idx="1"/>
          </p:nvPr>
        </p:nvPicPr>
        <p:blipFill>
          <a:blip r:embed="rId3"/>
          <a:stretch>
            <a:fillRect/>
          </a:stretch>
        </p:blipFill>
        <p:spPr>
          <a:xfrm>
            <a:off x="6375473" y="502847"/>
            <a:ext cx="2827936" cy="2466923"/>
          </a:xfrm>
        </p:spPr>
      </p:pic>
      <p:pic>
        <p:nvPicPr>
          <p:cNvPr id="24" name="Picture 23" descr="A graph of a number of lines&#10;&#10;AI-generated content may be incorrect.">
            <a:extLst>
              <a:ext uri="{FF2B5EF4-FFF2-40B4-BE49-F238E27FC236}">
                <a16:creationId xmlns:a16="http://schemas.microsoft.com/office/drawing/2014/main" id="{A49DB63C-A137-7603-94B3-77556381BF78}"/>
              </a:ext>
            </a:extLst>
          </p:cNvPr>
          <p:cNvPicPr>
            <a:picLocks noChangeAspect="1"/>
          </p:cNvPicPr>
          <p:nvPr/>
        </p:nvPicPr>
        <p:blipFill>
          <a:blip r:embed="rId4"/>
          <a:stretch>
            <a:fillRect/>
          </a:stretch>
        </p:blipFill>
        <p:spPr>
          <a:xfrm>
            <a:off x="7670034" y="2951537"/>
            <a:ext cx="3875854" cy="3381064"/>
          </a:xfrm>
          <a:prstGeom prst="rect">
            <a:avLst/>
          </a:prstGeom>
        </p:spPr>
      </p:pic>
    </p:spTree>
    <p:extLst>
      <p:ext uri="{BB962C8B-B14F-4D97-AF65-F5344CB8AC3E}">
        <p14:creationId xmlns:p14="http://schemas.microsoft.com/office/powerpoint/2010/main" val="2373740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1B05-1BBC-395E-3518-2D125860828D}"/>
              </a:ext>
            </a:extLst>
          </p:cNvPr>
          <p:cNvSpPr>
            <a:spLocks noGrp="1"/>
          </p:cNvSpPr>
          <p:nvPr>
            <p:ph type="title"/>
          </p:nvPr>
        </p:nvSpPr>
        <p:spPr>
          <a:xfrm>
            <a:off x="838200" y="49212"/>
            <a:ext cx="10515600" cy="1325563"/>
          </a:xfrm>
        </p:spPr>
        <p:txBody>
          <a:bodyPr/>
          <a:lstStyle/>
          <a:p>
            <a:r>
              <a:rPr lang="en-US" dirty="0" err="1"/>
              <a:t>MSnbase</a:t>
            </a:r>
            <a:r>
              <a:rPr lang="en-US" dirty="0"/>
              <a:t> DDA analysis</a:t>
            </a:r>
          </a:p>
        </p:txBody>
      </p:sp>
      <p:pic>
        <p:nvPicPr>
          <p:cNvPr id="5" name="Content Placeholder 4" descr="A graph of a number of chromatograms&#10;&#10;AI-generated content may be incorrect.">
            <a:extLst>
              <a:ext uri="{FF2B5EF4-FFF2-40B4-BE49-F238E27FC236}">
                <a16:creationId xmlns:a16="http://schemas.microsoft.com/office/drawing/2014/main" id="{352B5210-8999-2600-DE28-7C8474D91571}"/>
              </a:ext>
            </a:extLst>
          </p:cNvPr>
          <p:cNvPicPr>
            <a:picLocks noGrp="1" noChangeAspect="1"/>
          </p:cNvPicPr>
          <p:nvPr>
            <p:ph idx="1"/>
          </p:nvPr>
        </p:nvPicPr>
        <p:blipFill>
          <a:blip r:embed="rId2"/>
          <a:stretch>
            <a:fillRect/>
          </a:stretch>
        </p:blipFill>
        <p:spPr>
          <a:xfrm>
            <a:off x="7704554" y="270023"/>
            <a:ext cx="4103501" cy="3404508"/>
          </a:xfrm>
        </p:spPr>
      </p:pic>
      <p:pic>
        <p:nvPicPr>
          <p:cNvPr id="7" name="Picture 6" descr="A graph of a waterfall plot&#10;&#10;AI-generated content may be incorrect.">
            <a:extLst>
              <a:ext uri="{FF2B5EF4-FFF2-40B4-BE49-F238E27FC236}">
                <a16:creationId xmlns:a16="http://schemas.microsoft.com/office/drawing/2014/main" id="{29FCE19E-04D6-6DC6-834D-4382BEC271C2}"/>
              </a:ext>
            </a:extLst>
          </p:cNvPr>
          <p:cNvPicPr>
            <a:picLocks noChangeAspect="1"/>
          </p:cNvPicPr>
          <p:nvPr/>
        </p:nvPicPr>
        <p:blipFill>
          <a:blip r:embed="rId3"/>
          <a:stretch>
            <a:fillRect/>
          </a:stretch>
        </p:blipFill>
        <p:spPr>
          <a:xfrm>
            <a:off x="7759059" y="3575199"/>
            <a:ext cx="4103501" cy="3282801"/>
          </a:xfrm>
          <a:prstGeom prst="rect">
            <a:avLst/>
          </a:prstGeom>
        </p:spPr>
      </p:pic>
      <p:sp>
        <p:nvSpPr>
          <p:cNvPr id="9" name="TextBox 8">
            <a:extLst>
              <a:ext uri="{FF2B5EF4-FFF2-40B4-BE49-F238E27FC236}">
                <a16:creationId xmlns:a16="http://schemas.microsoft.com/office/drawing/2014/main" id="{00D855F1-B065-0FA5-BA23-FA926C9E3EAA}"/>
              </a:ext>
            </a:extLst>
          </p:cNvPr>
          <p:cNvSpPr txBox="1"/>
          <p:nvPr/>
        </p:nvSpPr>
        <p:spPr>
          <a:xfrm>
            <a:off x="1062042" y="3684077"/>
            <a:ext cx="6100174" cy="2031325"/>
          </a:xfrm>
          <a:prstGeom prst="rect">
            <a:avLst/>
          </a:prstGeom>
          <a:noFill/>
        </p:spPr>
        <p:txBody>
          <a:bodyPr wrap="square">
            <a:spAutoFit/>
          </a:bodyPr>
          <a:lstStyle/>
          <a:p>
            <a:pPr>
              <a:buNone/>
            </a:pPr>
            <a:endParaRPr lang="en-CA" b="1" dirty="0"/>
          </a:p>
          <a:p>
            <a:pPr>
              <a:buNone/>
            </a:pPr>
            <a:endParaRPr lang="en-CA" b="1" dirty="0"/>
          </a:p>
          <a:p>
            <a:pPr>
              <a:buNone/>
            </a:pPr>
            <a:endParaRPr lang="en-CA" b="1" dirty="0">
              <a:latin typeface="Arial" panose="020B0604020202020204" pitchFamily="34" charset="0"/>
              <a:cs typeface="Arial" panose="020B0604020202020204" pitchFamily="34" charset="0"/>
            </a:endParaRPr>
          </a:p>
          <a:p>
            <a:pPr>
              <a:buNone/>
            </a:pPr>
            <a:r>
              <a:rPr lang="en-CA" b="1" dirty="0">
                <a:latin typeface="Arial" panose="020B0604020202020204" pitchFamily="34" charset="0"/>
                <a:cs typeface="Arial" panose="020B0604020202020204" pitchFamily="34" charset="0"/>
              </a:rPr>
              <a:t>3D MS1 </a:t>
            </a:r>
            <a:r>
              <a:rPr lang="en-CA" dirty="0">
                <a:latin typeface="Arial" panose="020B0604020202020204" pitchFamily="34" charset="0"/>
                <a:cs typeface="Arial" panose="020B0604020202020204" pitchFamily="34" charset="0"/>
              </a:rPr>
              <a:t>Visualization:</a:t>
            </a:r>
          </a:p>
          <a:p>
            <a:pPr>
              <a:buNone/>
            </a:pPr>
            <a:endParaRPr lang="en-CA" dirty="0">
              <a:latin typeface="Arial" panose="020B0604020202020204" pitchFamily="34" charset="0"/>
              <a:cs typeface="Arial" panose="020B0604020202020204" pitchFamily="34" charset="0"/>
            </a:endParaRPr>
          </a:p>
          <a:p>
            <a:pPr>
              <a:buFont typeface="Arial" panose="020B0604020202020204" pitchFamily="34" charset="0"/>
              <a:buChar char="•"/>
            </a:pPr>
            <a:r>
              <a:rPr lang="en-CA" dirty="0">
                <a:latin typeface="Arial" panose="020B0604020202020204" pitchFamily="34" charset="0"/>
                <a:cs typeface="Arial" panose="020B0604020202020204" pitchFamily="34" charset="0"/>
              </a:rPr>
              <a:t>Select first 50 MS1 spectra</a:t>
            </a:r>
          </a:p>
          <a:p>
            <a:pPr>
              <a:buFont typeface="Arial" panose="020B0604020202020204" pitchFamily="34" charset="0"/>
              <a:buChar char="•"/>
            </a:pPr>
            <a:r>
              <a:rPr lang="en-CA" dirty="0">
                <a:latin typeface="Arial" panose="020B0604020202020204" pitchFamily="34" charset="0"/>
                <a:cs typeface="Arial" panose="020B0604020202020204" pitchFamily="34" charset="0"/>
              </a:rPr>
              <a:t>Generate a 3D waterfall plot (m/z × RT × intensity)</a:t>
            </a:r>
          </a:p>
        </p:txBody>
      </p:sp>
      <p:sp>
        <p:nvSpPr>
          <p:cNvPr id="12" name="TextBox 11">
            <a:extLst>
              <a:ext uri="{FF2B5EF4-FFF2-40B4-BE49-F238E27FC236}">
                <a16:creationId xmlns:a16="http://schemas.microsoft.com/office/drawing/2014/main" id="{AC181DAE-BE0C-FADA-F513-D03006AC4FDD}"/>
              </a:ext>
            </a:extLst>
          </p:cNvPr>
          <p:cNvSpPr txBox="1"/>
          <p:nvPr/>
        </p:nvSpPr>
        <p:spPr>
          <a:xfrm>
            <a:off x="1062042" y="1374775"/>
            <a:ext cx="6100174" cy="2031325"/>
          </a:xfrm>
          <a:prstGeom prst="rect">
            <a:avLst/>
          </a:prstGeom>
          <a:noFill/>
        </p:spPr>
        <p:txBody>
          <a:bodyPr wrap="square">
            <a:spAutoFit/>
          </a:bodyPr>
          <a:lstStyle/>
          <a:p>
            <a:r>
              <a:rPr lang="en-CA" dirty="0">
                <a:latin typeface="Arial" panose="020B0604020202020204" pitchFamily="34" charset="0"/>
                <a:cs typeface="Arial" panose="020B0604020202020204" pitchFamily="34" charset="0"/>
              </a:rPr>
              <a:t>A </a:t>
            </a:r>
            <a:r>
              <a:rPr lang="en-CA" b="1" dirty="0">
                <a:latin typeface="Arial" panose="020B0604020202020204" pitchFamily="34" charset="0"/>
                <a:cs typeface="Arial" panose="020B0604020202020204" pitchFamily="34" charset="0"/>
              </a:rPr>
              <a:t>TIC plot </a:t>
            </a:r>
            <a:r>
              <a:rPr lang="en-CA" dirty="0">
                <a:latin typeface="Arial" panose="020B0604020202020204" pitchFamily="34" charset="0"/>
                <a:cs typeface="Arial" panose="020B0604020202020204" pitchFamily="34" charset="0"/>
              </a:rPr>
              <a:t>shows the total ion signal over retention time, and it suggests a relatively good chromatography:</a:t>
            </a:r>
          </a:p>
          <a:p>
            <a:endParaRPr lang="en-CA" dirty="0">
              <a:latin typeface="Arial" panose="020B0604020202020204" pitchFamily="34" charset="0"/>
              <a:cs typeface="Arial" panose="020B0604020202020204" pitchFamily="34" charset="0"/>
            </a:endParaRPr>
          </a:p>
          <a:p>
            <a:pPr>
              <a:buFont typeface="Arial" panose="020B0604020202020204" pitchFamily="34" charset="0"/>
              <a:buChar char="•"/>
            </a:pPr>
            <a:r>
              <a:rPr lang="en-CA" dirty="0">
                <a:latin typeface="Arial" panose="020B0604020202020204" pitchFamily="34" charset="0"/>
                <a:cs typeface="Arial" panose="020B0604020202020204" pitchFamily="34" charset="0"/>
              </a:rPr>
              <a:t>Low baseline at early RT</a:t>
            </a:r>
          </a:p>
          <a:p>
            <a:pPr>
              <a:buFont typeface="Arial" panose="020B0604020202020204" pitchFamily="34" charset="0"/>
              <a:buChar char="•"/>
            </a:pPr>
            <a:r>
              <a:rPr lang="en-CA" dirty="0">
                <a:latin typeface="Arial" panose="020B0604020202020204" pitchFamily="34" charset="0"/>
                <a:cs typeface="Arial" panose="020B0604020202020204" pitchFamily="34" charset="0"/>
              </a:rPr>
              <a:t>Gradual signal rise as peptides elute</a:t>
            </a:r>
          </a:p>
          <a:p>
            <a:pPr>
              <a:buFont typeface="Arial" panose="020B0604020202020204" pitchFamily="34" charset="0"/>
              <a:buChar char="•"/>
            </a:pPr>
            <a:r>
              <a:rPr lang="en-CA" dirty="0">
                <a:latin typeface="Arial" panose="020B0604020202020204" pitchFamily="34" charset="0"/>
                <a:cs typeface="Arial" panose="020B0604020202020204" pitchFamily="34" charset="0"/>
              </a:rPr>
              <a:t>No sudden gaps, drops, or huge spikes</a:t>
            </a:r>
          </a:p>
          <a:p>
            <a:endParaRPr lang="en-US" dirty="0"/>
          </a:p>
        </p:txBody>
      </p:sp>
    </p:spTree>
    <p:extLst>
      <p:ext uri="{BB962C8B-B14F-4D97-AF65-F5344CB8AC3E}">
        <p14:creationId xmlns:p14="http://schemas.microsoft.com/office/powerpoint/2010/main" val="172946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A042C51-0ACE-419E-A039-04AD72522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C6761F-2F10-6D86-2D8C-23B7F5803D52}"/>
              </a:ext>
            </a:extLst>
          </p:cNvPr>
          <p:cNvSpPr>
            <a:spLocks noGrp="1"/>
          </p:cNvSpPr>
          <p:nvPr>
            <p:ph type="title"/>
          </p:nvPr>
        </p:nvSpPr>
        <p:spPr>
          <a:xfrm>
            <a:off x="805885" y="881688"/>
            <a:ext cx="5363624" cy="1035781"/>
          </a:xfrm>
        </p:spPr>
        <p:txBody>
          <a:bodyPr anchor="ctr">
            <a:normAutofit/>
          </a:bodyPr>
          <a:lstStyle/>
          <a:p>
            <a:r>
              <a:rPr lang="en-US" sz="2800" dirty="0"/>
              <a:t>TOF data processing and analyzing </a:t>
            </a:r>
          </a:p>
        </p:txBody>
      </p:sp>
      <p:pic>
        <p:nvPicPr>
          <p:cNvPr id="12" name="Content Placeholder 11" descr="A graph of different colored lines&#10;&#10;AI-generated content may be incorrect.">
            <a:extLst>
              <a:ext uri="{FF2B5EF4-FFF2-40B4-BE49-F238E27FC236}">
                <a16:creationId xmlns:a16="http://schemas.microsoft.com/office/drawing/2014/main" id="{9CBA222E-4DAD-61B4-119C-E1D6C31C3E51}"/>
              </a:ext>
            </a:extLst>
          </p:cNvPr>
          <p:cNvPicPr>
            <a:picLocks noGrp="1" noChangeAspect="1"/>
          </p:cNvPicPr>
          <p:nvPr>
            <p:ph idx="1"/>
          </p:nvPr>
        </p:nvPicPr>
        <p:blipFill>
          <a:blip r:embed="rId2"/>
          <a:srcRect b="4536"/>
          <a:stretch/>
        </p:blipFill>
        <p:spPr>
          <a:xfrm>
            <a:off x="9262151" y="545929"/>
            <a:ext cx="2690811" cy="2131173"/>
          </a:xfrm>
        </p:spPr>
      </p:pic>
      <p:pic>
        <p:nvPicPr>
          <p:cNvPr id="10" name="Picture 9" descr="A graph of different types of data&#10;&#10;AI-generated content may be incorrect.">
            <a:extLst>
              <a:ext uri="{FF2B5EF4-FFF2-40B4-BE49-F238E27FC236}">
                <a16:creationId xmlns:a16="http://schemas.microsoft.com/office/drawing/2014/main" id="{7D4B26BE-83E9-D2F9-4260-AACAD1739E2A}"/>
              </a:ext>
            </a:extLst>
          </p:cNvPr>
          <p:cNvPicPr>
            <a:picLocks noChangeAspect="1"/>
          </p:cNvPicPr>
          <p:nvPr/>
        </p:nvPicPr>
        <p:blipFill>
          <a:blip r:embed="rId3"/>
          <a:srcRect l="11934" t="6188" r="1842" b="3913"/>
          <a:stretch/>
        </p:blipFill>
        <p:spPr>
          <a:xfrm>
            <a:off x="7201094" y="2818356"/>
            <a:ext cx="4557712" cy="3654835"/>
          </a:xfrm>
          <a:prstGeom prst="rect">
            <a:avLst/>
          </a:prstGeom>
        </p:spPr>
      </p:pic>
      <p:cxnSp>
        <p:nvCxnSpPr>
          <p:cNvPr id="26" name="Straight Connector 2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AutoShape 2">
            <a:extLst>
              <a:ext uri="{FF2B5EF4-FFF2-40B4-BE49-F238E27FC236}">
                <a16:creationId xmlns:a16="http://schemas.microsoft.com/office/drawing/2014/main" id="{82201494-66A9-EA0F-5344-43E9F38DB60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descr="A graph with numbers and a number of red dots&#10;&#10;AI-generated content may be incorrect.">
            <a:extLst>
              <a:ext uri="{FF2B5EF4-FFF2-40B4-BE49-F238E27FC236}">
                <a16:creationId xmlns:a16="http://schemas.microsoft.com/office/drawing/2014/main" id="{B48D532E-902B-EFDB-265C-A5F0C361802C}"/>
              </a:ext>
            </a:extLst>
          </p:cNvPr>
          <p:cNvPicPr>
            <a:picLocks noChangeAspect="1"/>
          </p:cNvPicPr>
          <p:nvPr/>
        </p:nvPicPr>
        <p:blipFill>
          <a:blip r:embed="rId4"/>
          <a:stretch>
            <a:fillRect/>
          </a:stretch>
        </p:blipFill>
        <p:spPr>
          <a:xfrm>
            <a:off x="6451181" y="477549"/>
            <a:ext cx="2821407" cy="2340807"/>
          </a:xfrm>
          <a:prstGeom prst="rect">
            <a:avLst/>
          </a:prstGeom>
        </p:spPr>
      </p:pic>
      <p:sp>
        <p:nvSpPr>
          <p:cNvPr id="18" name="TextBox 17">
            <a:extLst>
              <a:ext uri="{FF2B5EF4-FFF2-40B4-BE49-F238E27FC236}">
                <a16:creationId xmlns:a16="http://schemas.microsoft.com/office/drawing/2014/main" id="{25E79697-AC0F-BA01-2B9D-804405C29080}"/>
              </a:ext>
            </a:extLst>
          </p:cNvPr>
          <p:cNvSpPr txBox="1"/>
          <p:nvPr/>
        </p:nvSpPr>
        <p:spPr>
          <a:xfrm>
            <a:off x="667728" y="2313279"/>
            <a:ext cx="6100174" cy="646331"/>
          </a:xfrm>
          <a:prstGeom prst="rect">
            <a:avLst/>
          </a:prstGeom>
          <a:noFill/>
        </p:spPr>
        <p:txBody>
          <a:bodyPr wrap="square">
            <a:spAutoFit/>
          </a:bodyPr>
          <a:lstStyle/>
          <a:p>
            <a:r>
              <a:rPr lang="en-CA" b="1" dirty="0"/>
              <a:t>Overlay plot</a:t>
            </a:r>
            <a:r>
              <a:rPr lang="en-CA" dirty="0"/>
              <a:t>: put multiple spectra on the same graph after preprocessing for vial, quality, and outliners check. </a:t>
            </a:r>
            <a:endParaRPr lang="en-US" dirty="0"/>
          </a:p>
        </p:txBody>
      </p:sp>
      <p:sp>
        <p:nvSpPr>
          <p:cNvPr id="25" name="TextBox 24">
            <a:extLst>
              <a:ext uri="{FF2B5EF4-FFF2-40B4-BE49-F238E27FC236}">
                <a16:creationId xmlns:a16="http://schemas.microsoft.com/office/drawing/2014/main" id="{A0BEC013-E80F-D509-596C-9139FEF69F8F}"/>
              </a:ext>
            </a:extLst>
          </p:cNvPr>
          <p:cNvSpPr txBox="1"/>
          <p:nvPr/>
        </p:nvSpPr>
        <p:spPr>
          <a:xfrm>
            <a:off x="667728" y="3053798"/>
            <a:ext cx="6100174" cy="2585323"/>
          </a:xfrm>
          <a:prstGeom prst="rect">
            <a:avLst/>
          </a:prstGeom>
          <a:noFill/>
        </p:spPr>
        <p:txBody>
          <a:bodyPr wrap="square">
            <a:spAutoFit/>
          </a:bodyPr>
          <a:lstStyle/>
          <a:p>
            <a:pPr>
              <a:buNone/>
            </a:pPr>
            <a:r>
              <a:rPr lang="en-CA" b="1" dirty="0"/>
              <a:t>PCA</a:t>
            </a:r>
            <a:r>
              <a:rPr lang="en-CA" dirty="0"/>
              <a:t> provides a quantitate view to explore similarity and clustering amongst the spectra. The results suggests:</a:t>
            </a:r>
          </a:p>
          <a:p>
            <a:pPr>
              <a:buNone/>
            </a:pPr>
            <a:endParaRPr lang="en-CA" dirty="0"/>
          </a:p>
          <a:p>
            <a:pPr marL="285750" indent="-285750">
              <a:buFont typeface="Arial" panose="020B0604020202020204" pitchFamily="34" charset="0"/>
              <a:buChar char="•"/>
            </a:pPr>
            <a:r>
              <a:rPr lang="en-CA" dirty="0"/>
              <a:t>spectra differ significantly for spectrum3; while spectrum 1 and 2 are more similar in peak intensity</a:t>
            </a:r>
          </a:p>
          <a:p>
            <a:pPr marL="285750" indent="-285750">
              <a:buFont typeface="Arial" panose="020B0604020202020204" pitchFamily="34" charset="0"/>
              <a:buChar char="•"/>
            </a:pPr>
            <a:endParaRPr lang="en-CA" dirty="0"/>
          </a:p>
          <a:p>
            <a:pPr marL="285750" indent="-285750">
              <a:buFont typeface="Arial" panose="020B0604020202020204" pitchFamily="34" charset="0"/>
              <a:buChar char="•"/>
            </a:pPr>
            <a:r>
              <a:rPr lang="en-CA" dirty="0"/>
              <a:t>The mean difference came from PC1, due to specie-specific peaks</a:t>
            </a:r>
          </a:p>
          <a:p>
            <a:pPr>
              <a:buNone/>
            </a:pPr>
            <a:endParaRPr lang="en-CA" dirty="0"/>
          </a:p>
        </p:txBody>
      </p:sp>
      <p:sp>
        <p:nvSpPr>
          <p:cNvPr id="27" name="TextBox 26">
            <a:extLst>
              <a:ext uri="{FF2B5EF4-FFF2-40B4-BE49-F238E27FC236}">
                <a16:creationId xmlns:a16="http://schemas.microsoft.com/office/drawing/2014/main" id="{EC6E749B-A21E-A1C9-9CF9-4C974B83B5A3}"/>
              </a:ext>
            </a:extLst>
          </p:cNvPr>
          <p:cNvSpPr txBox="1"/>
          <p:nvPr/>
        </p:nvSpPr>
        <p:spPr>
          <a:xfrm>
            <a:off x="731525" y="5549862"/>
            <a:ext cx="6091043" cy="923330"/>
          </a:xfrm>
          <a:prstGeom prst="rect">
            <a:avLst/>
          </a:prstGeom>
          <a:noFill/>
        </p:spPr>
        <p:txBody>
          <a:bodyPr wrap="square" rtlCol="0">
            <a:spAutoFit/>
          </a:bodyPr>
          <a:lstStyle/>
          <a:p>
            <a:r>
              <a:rPr lang="en-US" dirty="0"/>
              <a:t>The bottom </a:t>
            </a:r>
            <a:r>
              <a:rPr lang="en-US" b="1" dirty="0"/>
              <a:t>intensity versus m/z plot </a:t>
            </a:r>
            <a:r>
              <a:rPr lang="en-US" dirty="0"/>
              <a:t>shows the processing steps using MALDI quant, including  peak smoothing and baseline removing. </a:t>
            </a:r>
          </a:p>
        </p:txBody>
      </p:sp>
    </p:spTree>
    <p:extLst>
      <p:ext uri="{BB962C8B-B14F-4D97-AF65-F5344CB8AC3E}">
        <p14:creationId xmlns:p14="http://schemas.microsoft.com/office/powerpoint/2010/main" val="3470621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E370-74CF-7BAF-CE73-80148177E807}"/>
              </a:ext>
            </a:extLst>
          </p:cNvPr>
          <p:cNvSpPr>
            <a:spLocks noGrp="1"/>
          </p:cNvSpPr>
          <p:nvPr>
            <p:ph type="title"/>
          </p:nvPr>
        </p:nvSpPr>
        <p:spPr>
          <a:xfrm>
            <a:off x="550100" y="203073"/>
            <a:ext cx="6013537" cy="906463"/>
          </a:xfrm>
        </p:spPr>
        <p:txBody>
          <a:bodyPr>
            <a:noAutofit/>
          </a:bodyPr>
          <a:lstStyle/>
          <a:p>
            <a:r>
              <a:rPr lang="en-CA" sz="3400" dirty="0"/>
              <a:t>Proteomics TMT Data Analysis</a:t>
            </a:r>
            <a:endParaRPr lang="en-US" sz="3400" dirty="0"/>
          </a:p>
        </p:txBody>
      </p:sp>
      <p:pic>
        <p:nvPicPr>
          <p:cNvPr id="5" name="Content Placeholder 4" descr="A graph with numbers and lines&#10;&#10;AI-generated content may be incorrect.">
            <a:extLst>
              <a:ext uri="{FF2B5EF4-FFF2-40B4-BE49-F238E27FC236}">
                <a16:creationId xmlns:a16="http://schemas.microsoft.com/office/drawing/2014/main" id="{0360F162-8A75-89C5-75F7-D6104F476F92}"/>
              </a:ext>
            </a:extLst>
          </p:cNvPr>
          <p:cNvPicPr>
            <a:picLocks noGrp="1" noChangeAspect="1"/>
          </p:cNvPicPr>
          <p:nvPr>
            <p:ph idx="1"/>
          </p:nvPr>
        </p:nvPicPr>
        <p:blipFill>
          <a:blip r:embed="rId2"/>
          <a:stretch>
            <a:fillRect/>
          </a:stretch>
        </p:blipFill>
        <p:spPr>
          <a:xfrm>
            <a:off x="9101509" y="2145650"/>
            <a:ext cx="2893218" cy="2523871"/>
          </a:xfrm>
        </p:spPr>
      </p:pic>
      <p:pic>
        <p:nvPicPr>
          <p:cNvPr id="7" name="Picture 6" descr="A graph with numbers and lines&#10;&#10;AI-generated content may be incorrect.">
            <a:extLst>
              <a:ext uri="{FF2B5EF4-FFF2-40B4-BE49-F238E27FC236}">
                <a16:creationId xmlns:a16="http://schemas.microsoft.com/office/drawing/2014/main" id="{B37F7459-D6DB-8901-6F6B-E91C13FD82B5}"/>
              </a:ext>
            </a:extLst>
          </p:cNvPr>
          <p:cNvPicPr>
            <a:picLocks noChangeAspect="1"/>
          </p:cNvPicPr>
          <p:nvPr/>
        </p:nvPicPr>
        <p:blipFill>
          <a:blip r:embed="rId3"/>
          <a:stretch>
            <a:fillRect/>
          </a:stretch>
        </p:blipFill>
        <p:spPr>
          <a:xfrm>
            <a:off x="9168335" y="0"/>
            <a:ext cx="2893219" cy="2523872"/>
          </a:xfrm>
          <a:prstGeom prst="rect">
            <a:avLst/>
          </a:prstGeom>
        </p:spPr>
      </p:pic>
      <p:pic>
        <p:nvPicPr>
          <p:cNvPr id="9" name="Picture 8" descr="A graph of numbers and letters&#10;&#10;AI-generated content may be incorrect.">
            <a:extLst>
              <a:ext uri="{FF2B5EF4-FFF2-40B4-BE49-F238E27FC236}">
                <a16:creationId xmlns:a16="http://schemas.microsoft.com/office/drawing/2014/main" id="{FE26B2BB-E9D8-70D5-7646-D16784BB4FA5}"/>
              </a:ext>
            </a:extLst>
          </p:cNvPr>
          <p:cNvPicPr>
            <a:picLocks noChangeAspect="1"/>
          </p:cNvPicPr>
          <p:nvPr/>
        </p:nvPicPr>
        <p:blipFill>
          <a:blip r:embed="rId4"/>
          <a:stretch>
            <a:fillRect/>
          </a:stretch>
        </p:blipFill>
        <p:spPr>
          <a:xfrm>
            <a:off x="9125905" y="4156434"/>
            <a:ext cx="2963766" cy="2585413"/>
          </a:xfrm>
          <a:prstGeom prst="rect">
            <a:avLst/>
          </a:prstGeom>
        </p:spPr>
      </p:pic>
      <p:pic>
        <p:nvPicPr>
          <p:cNvPr id="11" name="Picture 10" descr="A graph of different colored lines&#10;&#10;AI-generated content may be incorrect.">
            <a:extLst>
              <a:ext uri="{FF2B5EF4-FFF2-40B4-BE49-F238E27FC236}">
                <a16:creationId xmlns:a16="http://schemas.microsoft.com/office/drawing/2014/main" id="{F23FE25D-16A9-7D87-8706-0AC27F7B0205}"/>
              </a:ext>
            </a:extLst>
          </p:cNvPr>
          <p:cNvPicPr>
            <a:picLocks noChangeAspect="1"/>
          </p:cNvPicPr>
          <p:nvPr/>
        </p:nvPicPr>
        <p:blipFill>
          <a:blip r:embed="rId5"/>
          <a:stretch>
            <a:fillRect/>
          </a:stretch>
        </p:blipFill>
        <p:spPr>
          <a:xfrm>
            <a:off x="5967141" y="3790671"/>
            <a:ext cx="3148284" cy="2746375"/>
          </a:xfrm>
          <a:prstGeom prst="rect">
            <a:avLst/>
          </a:prstGeom>
        </p:spPr>
      </p:pic>
      <p:pic>
        <p:nvPicPr>
          <p:cNvPr id="13" name="Picture 12" descr="A graph of different colored lines&#10;&#10;AI-generated content may be incorrect.">
            <a:extLst>
              <a:ext uri="{FF2B5EF4-FFF2-40B4-BE49-F238E27FC236}">
                <a16:creationId xmlns:a16="http://schemas.microsoft.com/office/drawing/2014/main" id="{613FA98A-5FE4-DE61-6A23-2E70F74C1F0F}"/>
              </a:ext>
            </a:extLst>
          </p:cNvPr>
          <p:cNvPicPr>
            <a:picLocks noChangeAspect="1"/>
          </p:cNvPicPr>
          <p:nvPr/>
        </p:nvPicPr>
        <p:blipFill>
          <a:blip r:embed="rId6"/>
          <a:stretch>
            <a:fillRect/>
          </a:stretch>
        </p:blipFill>
        <p:spPr>
          <a:xfrm>
            <a:off x="5944622" y="772206"/>
            <a:ext cx="3170803" cy="2766020"/>
          </a:xfrm>
          <a:prstGeom prst="rect">
            <a:avLst/>
          </a:prstGeom>
        </p:spPr>
      </p:pic>
      <p:sp>
        <p:nvSpPr>
          <p:cNvPr id="15" name="TextBox 14">
            <a:extLst>
              <a:ext uri="{FF2B5EF4-FFF2-40B4-BE49-F238E27FC236}">
                <a16:creationId xmlns:a16="http://schemas.microsoft.com/office/drawing/2014/main" id="{1D746E8C-BD36-2656-5AA2-15693ABC1A55}"/>
              </a:ext>
            </a:extLst>
          </p:cNvPr>
          <p:cNvSpPr txBox="1"/>
          <p:nvPr/>
        </p:nvSpPr>
        <p:spPr>
          <a:xfrm>
            <a:off x="654145" y="1109536"/>
            <a:ext cx="5120353" cy="5632311"/>
          </a:xfrm>
          <a:prstGeom prst="rect">
            <a:avLst/>
          </a:prstGeom>
          <a:noFill/>
        </p:spPr>
        <p:txBody>
          <a:bodyPr wrap="square">
            <a:spAutoFit/>
          </a:bodyPr>
          <a:lstStyle/>
          <a:p>
            <a:pPr>
              <a:buNone/>
            </a:pPr>
            <a:r>
              <a:rPr lang="en-CA" b="1" dirty="0">
                <a:latin typeface="Arial" panose="020B0604020202020204" pitchFamily="34" charset="0"/>
                <a:cs typeface="Arial" panose="020B0604020202020204" pitchFamily="34" charset="0"/>
              </a:rPr>
              <a:t>gg-plot Normalization </a:t>
            </a:r>
            <a:r>
              <a:rPr lang="en-CA" dirty="0">
                <a:latin typeface="Arial" panose="020B0604020202020204" pitchFamily="34" charset="0"/>
                <a:cs typeface="Arial" panose="020B0604020202020204" pitchFamily="34" charset="0"/>
              </a:rPr>
              <a:t>effects (On the left side):</a:t>
            </a:r>
          </a:p>
          <a:p>
            <a:pPr>
              <a:buFont typeface="Arial" panose="020B0604020202020204" pitchFamily="34" charset="0"/>
              <a:buChar char="•"/>
            </a:pPr>
            <a:r>
              <a:rPr lang="en-CA" dirty="0">
                <a:latin typeface="Arial" panose="020B0604020202020204" pitchFamily="34" charset="0"/>
                <a:cs typeface="Arial" panose="020B0604020202020204" pitchFamily="34" charset="0"/>
              </a:rPr>
              <a:t>VSN reduces variability between channels/peptides.</a:t>
            </a:r>
          </a:p>
          <a:p>
            <a:pPr>
              <a:buFont typeface="Arial" panose="020B0604020202020204" pitchFamily="34" charset="0"/>
              <a:buChar char="•"/>
            </a:pPr>
            <a:r>
              <a:rPr lang="en-CA" dirty="0">
                <a:latin typeface="Arial" panose="020B0604020202020204" pitchFamily="34" charset="0"/>
                <a:cs typeface="Arial" panose="020B0604020202020204" pitchFamily="34" charset="0"/>
              </a:rPr>
              <a:t>Background or contaminant proteins have inconsistent signals.</a:t>
            </a:r>
          </a:p>
          <a:p>
            <a:pPr>
              <a:buFont typeface="Arial" panose="020B0604020202020204" pitchFamily="34" charset="0"/>
              <a:buChar char="•"/>
            </a:pPr>
            <a:r>
              <a:rPr lang="en-CA" dirty="0">
                <a:latin typeface="Arial" panose="020B0604020202020204" pitchFamily="34" charset="0"/>
                <a:cs typeface="Arial" panose="020B0604020202020204" pitchFamily="34" charset="0"/>
              </a:rPr>
              <a:t>Strong proteins BSA shows consistent upward trends across channels.</a:t>
            </a:r>
          </a:p>
          <a:p>
            <a:pPr>
              <a:buFont typeface="Arial" panose="020B0604020202020204" pitchFamily="34" charset="0"/>
              <a:buChar char="•"/>
            </a:pPr>
            <a:endParaRPr lang="en-CA" dirty="0">
              <a:latin typeface="Arial" panose="020B0604020202020204" pitchFamily="34" charset="0"/>
              <a:cs typeface="Arial" panose="020B0604020202020204" pitchFamily="34" charset="0"/>
            </a:endParaRPr>
          </a:p>
          <a:p>
            <a:pPr>
              <a:buFont typeface="Arial" panose="020B0604020202020204" pitchFamily="34" charset="0"/>
              <a:buChar char="•"/>
            </a:pPr>
            <a:endParaRPr lang="en-CA" dirty="0">
              <a:latin typeface="Arial" panose="020B0604020202020204" pitchFamily="34" charset="0"/>
              <a:cs typeface="Arial" panose="020B0604020202020204" pitchFamily="34" charset="0"/>
            </a:endParaRPr>
          </a:p>
          <a:p>
            <a:r>
              <a:rPr lang="en-CA" b="1" dirty="0" err="1">
                <a:latin typeface="Arial" panose="020B0604020202020204" pitchFamily="34" charset="0"/>
                <a:cs typeface="Arial" panose="020B0604020202020204" pitchFamily="34" charset="0"/>
              </a:rPr>
              <a:t>Matplots</a:t>
            </a:r>
            <a:r>
              <a:rPr lang="en-CA" dirty="0">
                <a:latin typeface="Arial" panose="020B0604020202020204" pitchFamily="34" charset="0"/>
                <a:cs typeface="Arial" panose="020B0604020202020204" pitchFamily="34" charset="0"/>
              </a:rPr>
              <a:t> (on the right side) compare the three aggregation methods by showing the variation of protein intensity across TMT channels:</a:t>
            </a:r>
          </a:p>
          <a:p>
            <a:endParaRPr lang="en-CA" dirty="0">
              <a:latin typeface="Arial" panose="020B0604020202020204" pitchFamily="34" charset="0"/>
              <a:cs typeface="Arial" panose="020B0604020202020204" pitchFamily="34" charset="0"/>
            </a:endParaRPr>
          </a:p>
          <a:p>
            <a:r>
              <a:rPr lang="en-CA" dirty="0">
                <a:latin typeface="Arial" panose="020B0604020202020204" pitchFamily="34" charset="0"/>
                <a:cs typeface="Arial" panose="020B0604020202020204" pitchFamily="34" charset="0"/>
              </a:rPr>
              <a:t>Median and mean methods have outliners for the 5</a:t>
            </a:r>
            <a:r>
              <a:rPr lang="en-CA" baseline="30000" dirty="0">
                <a:latin typeface="Arial" panose="020B0604020202020204" pitchFamily="34" charset="0"/>
                <a:cs typeface="Arial" panose="020B0604020202020204" pitchFamily="34" charset="0"/>
              </a:rPr>
              <a:t>th</a:t>
            </a:r>
            <a:r>
              <a:rPr lang="en-CA" dirty="0">
                <a:latin typeface="Arial" panose="020B0604020202020204" pitchFamily="34" charset="0"/>
                <a:cs typeface="Arial" panose="020B0604020202020204" pitchFamily="34" charset="0"/>
              </a:rPr>
              <a:t> labeled protein at channel 6; sum shows the highest bias for both 1</a:t>
            </a:r>
            <a:r>
              <a:rPr lang="en-CA" baseline="30000" dirty="0">
                <a:latin typeface="Arial" panose="020B0604020202020204" pitchFamily="34" charset="0"/>
                <a:cs typeface="Arial" panose="020B0604020202020204" pitchFamily="34" charset="0"/>
              </a:rPr>
              <a:t>st</a:t>
            </a:r>
            <a:r>
              <a:rPr lang="en-CA" dirty="0">
                <a:latin typeface="Arial" panose="020B0604020202020204" pitchFamily="34" charset="0"/>
                <a:cs typeface="Arial" panose="020B0604020202020204" pitchFamily="34" charset="0"/>
              </a:rPr>
              <a:t> and 4</a:t>
            </a:r>
            <a:r>
              <a:rPr lang="en-CA" baseline="30000" dirty="0">
                <a:latin typeface="Arial" panose="020B0604020202020204" pitchFamily="34" charset="0"/>
                <a:cs typeface="Arial" panose="020B0604020202020204" pitchFamily="34" charset="0"/>
              </a:rPr>
              <a:t>th</a:t>
            </a:r>
            <a:r>
              <a:rPr lang="en-CA" dirty="0">
                <a:latin typeface="Arial" panose="020B0604020202020204" pitchFamily="34" charset="0"/>
                <a:cs typeface="Arial" panose="020B0604020202020204" pitchFamily="34" charset="0"/>
              </a:rPr>
              <a:t> proteins, as the lines are fluctuated; the 4</a:t>
            </a:r>
            <a:r>
              <a:rPr lang="en-CA" baseline="30000" dirty="0">
                <a:latin typeface="Arial" panose="020B0604020202020204" pitchFamily="34" charset="0"/>
                <a:cs typeface="Arial" panose="020B0604020202020204" pitchFamily="34" charset="0"/>
              </a:rPr>
              <a:t>th</a:t>
            </a:r>
            <a:r>
              <a:rPr lang="en-CA" dirty="0">
                <a:latin typeface="Arial" panose="020B0604020202020204" pitchFamily="34" charset="0"/>
                <a:cs typeface="Arial" panose="020B0604020202020204" pitchFamily="34" charset="0"/>
              </a:rPr>
              <a:t> protein might have bias or noise generally at channel 4 </a:t>
            </a:r>
          </a:p>
          <a:p>
            <a:endParaRPr lang="en-CA" dirty="0"/>
          </a:p>
          <a:p>
            <a:endParaRPr lang="en-CA"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1751EE0-CEFB-0D2B-53DC-225864C1DD7C}"/>
              </a:ext>
            </a:extLst>
          </p:cNvPr>
          <p:cNvSpPr txBox="1"/>
          <p:nvPr/>
        </p:nvSpPr>
        <p:spPr>
          <a:xfrm>
            <a:off x="6281803" y="519761"/>
            <a:ext cx="1797485" cy="276999"/>
          </a:xfrm>
          <a:prstGeom prst="rect">
            <a:avLst/>
          </a:prstGeom>
          <a:noFill/>
        </p:spPr>
        <p:txBody>
          <a:bodyPr wrap="square">
            <a:spAutoFit/>
          </a:bodyPr>
          <a:lstStyle/>
          <a:p>
            <a:r>
              <a:rPr lang="en-CA" sz="1200" b="1" dirty="0">
                <a:latin typeface="Arial" panose="020B0604020202020204" pitchFamily="34" charset="0"/>
                <a:cs typeface="Arial" panose="020B0604020202020204" pitchFamily="34" charset="0"/>
              </a:rPr>
              <a:t>Median normalization</a:t>
            </a:r>
            <a:endParaRPr lang="en-US" sz="1200" dirty="0"/>
          </a:p>
        </p:txBody>
      </p:sp>
      <p:sp>
        <p:nvSpPr>
          <p:cNvPr id="20" name="TextBox 19">
            <a:extLst>
              <a:ext uri="{FF2B5EF4-FFF2-40B4-BE49-F238E27FC236}">
                <a16:creationId xmlns:a16="http://schemas.microsoft.com/office/drawing/2014/main" id="{41D28B60-1B6C-463F-353A-A9520B79E844}"/>
              </a:ext>
            </a:extLst>
          </p:cNvPr>
          <p:cNvSpPr txBox="1"/>
          <p:nvPr/>
        </p:nvSpPr>
        <p:spPr>
          <a:xfrm>
            <a:off x="6417504" y="3560203"/>
            <a:ext cx="1797485" cy="276999"/>
          </a:xfrm>
          <a:prstGeom prst="rect">
            <a:avLst/>
          </a:prstGeom>
          <a:noFill/>
        </p:spPr>
        <p:txBody>
          <a:bodyPr wrap="square">
            <a:spAutoFit/>
          </a:bodyPr>
          <a:lstStyle/>
          <a:p>
            <a:r>
              <a:rPr lang="en-CA" sz="1200" b="1" dirty="0">
                <a:latin typeface="Arial" panose="020B0604020202020204" pitchFamily="34" charset="0"/>
                <a:cs typeface="Arial" panose="020B0604020202020204" pitchFamily="34" charset="0"/>
              </a:rPr>
              <a:t>VSN normalization</a:t>
            </a:r>
            <a:endParaRPr lang="en-US" sz="1200" dirty="0"/>
          </a:p>
        </p:txBody>
      </p:sp>
      <p:sp>
        <p:nvSpPr>
          <p:cNvPr id="22" name="TextBox 21">
            <a:extLst>
              <a:ext uri="{FF2B5EF4-FFF2-40B4-BE49-F238E27FC236}">
                <a16:creationId xmlns:a16="http://schemas.microsoft.com/office/drawing/2014/main" id="{E2EBE730-F783-D962-4AB9-76C03D9C982C}"/>
              </a:ext>
            </a:extLst>
          </p:cNvPr>
          <p:cNvSpPr txBox="1"/>
          <p:nvPr/>
        </p:nvSpPr>
        <p:spPr>
          <a:xfrm>
            <a:off x="10002033" y="198081"/>
            <a:ext cx="6100174" cy="276999"/>
          </a:xfrm>
          <a:prstGeom prst="rect">
            <a:avLst/>
          </a:prstGeom>
          <a:noFill/>
        </p:spPr>
        <p:txBody>
          <a:bodyPr wrap="square">
            <a:spAutoFit/>
          </a:bodyPr>
          <a:lstStyle/>
          <a:p>
            <a:r>
              <a:rPr lang="en-CA" sz="1200" b="1" dirty="0" err="1">
                <a:latin typeface="Arial" panose="020B0604020202020204" pitchFamily="34" charset="0"/>
                <a:cs typeface="Arial" panose="020B0604020202020204" pitchFamily="34" charset="0"/>
              </a:rPr>
              <a:t>Matplot</a:t>
            </a:r>
            <a:r>
              <a:rPr lang="en-CA" sz="1200" b="1" dirty="0">
                <a:latin typeface="Arial" panose="020B0604020202020204" pitchFamily="34" charset="0"/>
                <a:cs typeface="Arial" panose="020B0604020202020204" pitchFamily="34" charset="0"/>
              </a:rPr>
              <a:t>-Median</a:t>
            </a:r>
            <a:endParaRPr lang="en-US" sz="1200" dirty="0"/>
          </a:p>
        </p:txBody>
      </p:sp>
      <p:sp>
        <p:nvSpPr>
          <p:cNvPr id="23" name="TextBox 22">
            <a:extLst>
              <a:ext uri="{FF2B5EF4-FFF2-40B4-BE49-F238E27FC236}">
                <a16:creationId xmlns:a16="http://schemas.microsoft.com/office/drawing/2014/main" id="{EAED72B5-DCB1-4422-726C-98F485FD123B}"/>
              </a:ext>
            </a:extLst>
          </p:cNvPr>
          <p:cNvSpPr txBox="1"/>
          <p:nvPr/>
        </p:nvSpPr>
        <p:spPr>
          <a:xfrm>
            <a:off x="10031302" y="2382932"/>
            <a:ext cx="6100174" cy="276999"/>
          </a:xfrm>
          <a:prstGeom prst="rect">
            <a:avLst/>
          </a:prstGeom>
          <a:noFill/>
        </p:spPr>
        <p:txBody>
          <a:bodyPr wrap="square">
            <a:spAutoFit/>
          </a:bodyPr>
          <a:lstStyle/>
          <a:p>
            <a:r>
              <a:rPr lang="en-CA" sz="1200" b="1" dirty="0" err="1">
                <a:latin typeface="Arial" panose="020B0604020202020204" pitchFamily="34" charset="0"/>
                <a:cs typeface="Arial" panose="020B0604020202020204" pitchFamily="34" charset="0"/>
              </a:rPr>
              <a:t>Matplot</a:t>
            </a:r>
            <a:r>
              <a:rPr lang="en-CA" sz="1200" b="1" dirty="0">
                <a:latin typeface="Arial" panose="020B0604020202020204" pitchFamily="34" charset="0"/>
                <a:cs typeface="Arial" panose="020B0604020202020204" pitchFamily="34" charset="0"/>
              </a:rPr>
              <a:t>-sum</a:t>
            </a:r>
            <a:endParaRPr lang="en-US" sz="1200" dirty="0"/>
          </a:p>
        </p:txBody>
      </p:sp>
      <p:sp>
        <p:nvSpPr>
          <p:cNvPr id="24" name="TextBox 23">
            <a:extLst>
              <a:ext uri="{FF2B5EF4-FFF2-40B4-BE49-F238E27FC236}">
                <a16:creationId xmlns:a16="http://schemas.microsoft.com/office/drawing/2014/main" id="{2B1D7476-54D4-C167-7377-8DA1351223B0}"/>
              </a:ext>
            </a:extLst>
          </p:cNvPr>
          <p:cNvSpPr txBox="1"/>
          <p:nvPr/>
        </p:nvSpPr>
        <p:spPr>
          <a:xfrm>
            <a:off x="10063661" y="4392522"/>
            <a:ext cx="6100174" cy="276999"/>
          </a:xfrm>
          <a:prstGeom prst="rect">
            <a:avLst/>
          </a:prstGeom>
          <a:noFill/>
        </p:spPr>
        <p:txBody>
          <a:bodyPr wrap="square">
            <a:spAutoFit/>
          </a:bodyPr>
          <a:lstStyle/>
          <a:p>
            <a:r>
              <a:rPr lang="en-CA" sz="1200" b="1" dirty="0" err="1">
                <a:latin typeface="Arial" panose="020B0604020202020204" pitchFamily="34" charset="0"/>
                <a:cs typeface="Arial" panose="020B0604020202020204" pitchFamily="34" charset="0"/>
              </a:rPr>
              <a:t>Matplot</a:t>
            </a:r>
            <a:r>
              <a:rPr lang="en-CA" sz="1200" b="1" dirty="0">
                <a:latin typeface="Arial" panose="020B0604020202020204" pitchFamily="34" charset="0"/>
                <a:cs typeface="Arial" panose="020B0604020202020204" pitchFamily="34" charset="0"/>
              </a:rPr>
              <a:t>-Mean</a:t>
            </a:r>
            <a:endParaRPr lang="en-US" sz="1200" dirty="0"/>
          </a:p>
        </p:txBody>
      </p:sp>
    </p:spTree>
    <p:extLst>
      <p:ext uri="{BB962C8B-B14F-4D97-AF65-F5344CB8AC3E}">
        <p14:creationId xmlns:p14="http://schemas.microsoft.com/office/powerpoint/2010/main" val="3695702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C232EE-FEF8-7471-EBC8-D4980AC01D57}"/>
              </a:ext>
            </a:extLst>
          </p:cNvPr>
          <p:cNvSpPr>
            <a:spLocks noGrp="1"/>
          </p:cNvSpPr>
          <p:nvPr>
            <p:ph type="title"/>
          </p:nvPr>
        </p:nvSpPr>
        <p:spPr>
          <a:xfrm>
            <a:off x="770488" y="971532"/>
            <a:ext cx="6659008" cy="1169585"/>
          </a:xfrm>
        </p:spPr>
        <p:txBody>
          <a:bodyPr anchor="b">
            <a:normAutofit fontScale="90000"/>
          </a:bodyPr>
          <a:lstStyle/>
          <a:p>
            <a:r>
              <a:rPr lang="en-CA" sz="3200" dirty="0"/>
              <a:t>Proteomics TMT Data Analysis continue:</a:t>
            </a:r>
            <a:br>
              <a:rPr lang="en-CA" sz="3200" dirty="0"/>
            </a:br>
            <a:r>
              <a:rPr lang="en-US" sz="3000" dirty="0">
                <a:latin typeface="Arial" panose="020B0604020202020204" pitchFamily="34" charset="0"/>
                <a:cs typeface="Arial" panose="020B0604020202020204" pitchFamily="34" charset="0"/>
              </a:rPr>
              <a:t>highlight standards for </a:t>
            </a:r>
            <a:r>
              <a:rPr lang="en-CA" sz="3000" dirty="0">
                <a:latin typeface="Arial" panose="020B0604020202020204" pitchFamily="34" charset="0"/>
                <a:cs typeface="Arial" panose="020B0604020202020204" pitchFamily="34" charset="0"/>
              </a:rPr>
              <a:t>Incomplete dissociation plot</a:t>
            </a:r>
            <a:endParaRPr lang="en-US" sz="30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DD757A-7C34-E187-05C5-82C34479245D}"/>
              </a:ext>
            </a:extLst>
          </p:cNvPr>
          <p:cNvSpPr>
            <a:spLocks noGrp="1"/>
          </p:cNvSpPr>
          <p:nvPr>
            <p:ph idx="1"/>
          </p:nvPr>
        </p:nvSpPr>
        <p:spPr>
          <a:xfrm>
            <a:off x="1004661" y="2183922"/>
            <a:ext cx="6078882" cy="4673443"/>
          </a:xfrm>
        </p:spPr>
        <p:txBody>
          <a:bodyPr anchor="ctr">
            <a:normAutofit/>
          </a:bodyPr>
          <a:lstStyle/>
          <a:p>
            <a:pPr>
              <a:buNone/>
            </a:pPr>
            <a:r>
              <a:rPr lang="en-CA" sz="1600" dirty="0">
                <a:latin typeface="Arial" panose="020B0604020202020204" pitchFamily="34" charset="0"/>
                <a:cs typeface="Arial" panose="020B0604020202020204" pitchFamily="34" charset="0"/>
              </a:rPr>
              <a:t>The plot compares:</a:t>
            </a:r>
          </a:p>
          <a:p>
            <a:r>
              <a:rPr lang="en-CA" sz="1600" dirty="0">
                <a:latin typeface="Arial" panose="020B0604020202020204" pitchFamily="34" charset="0"/>
                <a:cs typeface="Arial" panose="020B0604020202020204" pitchFamily="34" charset="0"/>
              </a:rPr>
              <a:t>x-axis: intensity of incomplete-dissociation reporter</a:t>
            </a:r>
            <a:br>
              <a:rPr lang="en-CA" sz="1600" dirty="0">
                <a:latin typeface="Arial" panose="020B0604020202020204" pitchFamily="34" charset="0"/>
                <a:cs typeface="Arial" panose="020B0604020202020204" pitchFamily="34" charset="0"/>
              </a:rPr>
            </a:br>
            <a:r>
              <a:rPr lang="en-CA" sz="1600" dirty="0">
                <a:latin typeface="Arial" panose="020B0604020202020204" pitchFamily="34" charset="0"/>
                <a:cs typeface="Arial" panose="020B0604020202020204" pitchFamily="34" charset="0"/>
              </a:rPr>
              <a:t>y-axis: sum of all TMT quantification reporter intensities</a:t>
            </a:r>
          </a:p>
          <a:p>
            <a:r>
              <a:rPr lang="en-CA" sz="1600" dirty="0">
                <a:latin typeface="Arial" panose="020B0604020202020204" pitchFamily="34" charset="0"/>
                <a:cs typeface="Arial" panose="020B0604020202020204" pitchFamily="34" charset="0"/>
              </a:rPr>
              <a:t>Standard proteins: (BSA, ENO, CYT, PHO)</a:t>
            </a:r>
          </a:p>
          <a:p>
            <a:pPr marL="0" indent="0">
              <a:buNone/>
            </a:pPr>
            <a:endParaRPr lang="en-US" sz="1600" dirty="0">
              <a:latin typeface="Arial" panose="020B0604020202020204" pitchFamily="34" charset="0"/>
              <a:cs typeface="Arial" panose="020B0604020202020204" pitchFamily="34" charset="0"/>
            </a:endParaRPr>
          </a:p>
          <a:p>
            <a:pPr marL="0" indent="0">
              <a:buNone/>
            </a:pPr>
            <a:r>
              <a:rPr lang="en-US" sz="1600" dirty="0">
                <a:latin typeface="Arial" panose="020B0604020202020204" pitchFamily="34" charset="0"/>
                <a:cs typeface="Arial" panose="020B0604020202020204" pitchFamily="34" charset="0"/>
              </a:rPr>
              <a:t>The second plot annotates the proteins in the dataset, and has R^2 for the regression line; to better visualize sample quality and interference</a:t>
            </a:r>
          </a:p>
          <a:p>
            <a:pPr marL="0" indent="0">
              <a:buNone/>
            </a:pPr>
            <a:endParaRPr lang="en-US" sz="1600" dirty="0">
              <a:latin typeface="Arial" panose="020B0604020202020204" pitchFamily="34" charset="0"/>
              <a:cs typeface="Arial" panose="020B0604020202020204" pitchFamily="34" charset="0"/>
            </a:endParaRPr>
          </a:p>
          <a:p>
            <a:pPr marL="0" indent="0">
              <a:buNone/>
            </a:pPr>
            <a:r>
              <a:rPr lang="en-US" sz="1600" dirty="0">
                <a:latin typeface="Arial" panose="020B0604020202020204" pitchFamily="34" charset="0"/>
                <a:cs typeface="Arial" panose="020B0604020202020204" pitchFamily="34" charset="0"/>
              </a:rPr>
              <a:t>Overall, the plots show low incomplete dissociation, and the standard proteins are clustered and lying near the main trend, indicating good fragmentation and accurate quantification processing</a:t>
            </a:r>
          </a:p>
          <a:p>
            <a:endParaRPr lang="en-US" sz="2000" dirty="0"/>
          </a:p>
        </p:txBody>
      </p:sp>
      <p:pic>
        <p:nvPicPr>
          <p:cNvPr id="6" name="Picture 5" descr="A graph with numbers and symbols&#10;&#10;AI-generated content may be incorrect.">
            <a:extLst>
              <a:ext uri="{FF2B5EF4-FFF2-40B4-BE49-F238E27FC236}">
                <a16:creationId xmlns:a16="http://schemas.microsoft.com/office/drawing/2014/main" id="{F390131A-62B7-1308-799F-B862F350C4A0}"/>
              </a:ext>
            </a:extLst>
          </p:cNvPr>
          <p:cNvPicPr>
            <a:picLocks noChangeAspect="1"/>
          </p:cNvPicPr>
          <p:nvPr/>
        </p:nvPicPr>
        <p:blipFill>
          <a:blip r:embed="rId2"/>
          <a:stretch>
            <a:fillRect/>
          </a:stretch>
        </p:blipFill>
        <p:spPr>
          <a:xfrm>
            <a:off x="7134918" y="2797038"/>
            <a:ext cx="4337969" cy="3578825"/>
          </a:xfrm>
          <a:prstGeom prst="rect">
            <a:avLst/>
          </a:prstGeom>
        </p:spPr>
      </p:pic>
      <p:pic>
        <p:nvPicPr>
          <p:cNvPr id="4" name="Picture 4" descr="Incomplete dissociation.">
            <a:extLst>
              <a:ext uri="{FF2B5EF4-FFF2-40B4-BE49-F238E27FC236}">
                <a16:creationId xmlns:a16="http://schemas.microsoft.com/office/drawing/2014/main" id="{84B45E03-EA22-B2AE-DCB0-C40971C13A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32392" y="672450"/>
            <a:ext cx="4389120" cy="22713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6CC711-F82E-41A8-C7C4-28F97FFAA333}"/>
              </a:ext>
            </a:extLst>
          </p:cNvPr>
          <p:cNvSpPr txBox="1"/>
          <p:nvPr/>
        </p:nvSpPr>
        <p:spPr>
          <a:xfrm>
            <a:off x="8029412" y="422713"/>
            <a:ext cx="4138507" cy="276999"/>
          </a:xfrm>
          <a:prstGeom prst="rect">
            <a:avLst/>
          </a:prstGeom>
          <a:noFill/>
        </p:spPr>
        <p:txBody>
          <a:bodyPr wrap="square" rtlCol="0">
            <a:spAutoFit/>
          </a:bodyPr>
          <a:lstStyle/>
          <a:p>
            <a:r>
              <a:rPr lang="en-US" sz="1200" dirty="0">
                <a:solidFill>
                  <a:schemeClr val="accent1"/>
                </a:solidFill>
              </a:rPr>
              <a:t>Original incomplete dissociation plot </a:t>
            </a:r>
          </a:p>
        </p:txBody>
      </p:sp>
      <p:sp>
        <p:nvSpPr>
          <p:cNvPr id="12" name="TextBox 11">
            <a:extLst>
              <a:ext uri="{FF2B5EF4-FFF2-40B4-BE49-F238E27FC236}">
                <a16:creationId xmlns:a16="http://schemas.microsoft.com/office/drawing/2014/main" id="{E856BEB2-31A5-6A51-0B53-77D9116D2874}"/>
              </a:ext>
            </a:extLst>
          </p:cNvPr>
          <p:cNvSpPr txBox="1"/>
          <p:nvPr/>
        </p:nvSpPr>
        <p:spPr>
          <a:xfrm>
            <a:off x="7823225" y="3190706"/>
            <a:ext cx="3364114" cy="276999"/>
          </a:xfrm>
          <a:prstGeom prst="rect">
            <a:avLst/>
          </a:prstGeom>
          <a:noFill/>
        </p:spPr>
        <p:txBody>
          <a:bodyPr wrap="square">
            <a:spAutoFit/>
          </a:bodyPr>
          <a:lstStyle/>
          <a:p>
            <a:r>
              <a:rPr lang="en-US" sz="1200" b="1" dirty="0"/>
              <a:t>QC plot with standard protein highlighted</a:t>
            </a:r>
          </a:p>
        </p:txBody>
      </p:sp>
    </p:spTree>
    <p:extLst>
      <p:ext uri="{BB962C8B-B14F-4D97-AF65-F5344CB8AC3E}">
        <p14:creationId xmlns:p14="http://schemas.microsoft.com/office/powerpoint/2010/main" val="1498246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24BF0-5DEA-F39F-252D-77BA526F222A}"/>
              </a:ext>
            </a:extLst>
          </p:cNvPr>
          <p:cNvSpPr>
            <a:spLocks noGrp="1"/>
          </p:cNvSpPr>
          <p:nvPr>
            <p:ph type="title"/>
          </p:nvPr>
        </p:nvSpPr>
        <p:spPr>
          <a:xfrm>
            <a:off x="838200" y="500062"/>
            <a:ext cx="10515600" cy="1325563"/>
          </a:xfrm>
        </p:spPr>
        <p:txBody>
          <a:bodyPr>
            <a:normAutofit fontScale="90000"/>
          </a:bodyPr>
          <a:lstStyle/>
          <a:p>
            <a:r>
              <a:rPr lang="en-CA" sz="4400" b="1" dirty="0">
                <a:latin typeface="Arial" panose="020B0604020202020204" pitchFamily="34" charset="0"/>
                <a:cs typeface="Arial" panose="020B0604020202020204" pitchFamily="34" charset="0"/>
              </a:rPr>
              <a:t>missed-cleavage analysis:MC1 is more optimal for trypsin digestion of ENO1</a:t>
            </a:r>
            <a:br>
              <a:rPr lang="en-CA" sz="4400" dirty="0">
                <a:latin typeface="Arial" panose="020B06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E96E5D53-EA47-1DFF-21ED-E3D6B07D4E41}"/>
              </a:ext>
            </a:extLst>
          </p:cNvPr>
          <p:cNvSpPr>
            <a:spLocks noGrp="1"/>
          </p:cNvSpPr>
          <p:nvPr>
            <p:ph idx="1"/>
          </p:nvPr>
        </p:nvSpPr>
        <p:spPr/>
        <p:txBody>
          <a:bodyPr>
            <a:normAutofit/>
          </a:bodyPr>
          <a:lstStyle/>
          <a:p>
            <a:r>
              <a:rPr lang="en-CA" sz="2200" dirty="0">
                <a:latin typeface="Arial" panose="020B0604020202020204" pitchFamily="34" charset="0"/>
                <a:cs typeface="Arial" panose="020B0604020202020204" pitchFamily="34" charset="0"/>
              </a:rPr>
              <a:t>For peptides naturally have 1 missed cleavage: MC1 captures more experimentally observed peptides than MC0.</a:t>
            </a:r>
          </a:p>
          <a:p>
            <a:endParaRPr lang="en-CA" sz="2200" dirty="0">
              <a:latin typeface="Arial" panose="020B0604020202020204" pitchFamily="34" charset="0"/>
              <a:cs typeface="Arial" panose="020B0604020202020204" pitchFamily="34" charset="0"/>
            </a:endParaRPr>
          </a:p>
          <a:p>
            <a:pPr>
              <a:buNone/>
            </a:pPr>
            <a:r>
              <a:rPr lang="en-CA" sz="2200" dirty="0">
                <a:latin typeface="Arial" panose="020B0604020202020204" pitchFamily="34" charset="0"/>
                <a:cs typeface="Arial" panose="020B0604020202020204" pitchFamily="34" charset="0"/>
              </a:rPr>
              <a:t>  Very short peptides (MC0) and Very long peptides (MC2) may be lost during MS/MS or may be too large to detect efficiently or fragment poorly.</a:t>
            </a:r>
          </a:p>
          <a:p>
            <a:pPr>
              <a:buNone/>
            </a:pPr>
            <a:endParaRPr lang="en-CA" sz="2200" dirty="0">
              <a:latin typeface="Arial" panose="020B0604020202020204" pitchFamily="34" charset="0"/>
              <a:cs typeface="Arial" panose="020B0604020202020204" pitchFamily="34" charset="0"/>
            </a:endParaRPr>
          </a:p>
          <a:p>
            <a:pPr>
              <a:buNone/>
            </a:pPr>
            <a:r>
              <a:rPr lang="en-CA" sz="2200" dirty="0">
                <a:latin typeface="Arial" panose="020B0604020202020204" pitchFamily="34" charset="0"/>
                <a:cs typeface="Arial" panose="020B0604020202020204" pitchFamily="34" charset="0"/>
              </a:rPr>
              <a:t>When comparing to experimental </a:t>
            </a:r>
            <a:r>
              <a:rPr lang="en-CA" sz="2200" dirty="0" err="1">
                <a:latin typeface="Arial" panose="020B0604020202020204" pitchFamily="34" charset="0"/>
                <a:cs typeface="Arial" panose="020B0604020202020204" pitchFamily="34" charset="0"/>
              </a:rPr>
              <a:t>mzTab</a:t>
            </a:r>
            <a:r>
              <a:rPr lang="en-CA" sz="2200" dirty="0">
                <a:latin typeface="Arial" panose="020B0604020202020204" pitchFamily="34" charset="0"/>
                <a:cs typeface="Arial" panose="020B0604020202020204" pitchFamily="34" charset="0"/>
              </a:rPr>
              <a:t> peptides of ENO1:</a:t>
            </a:r>
          </a:p>
          <a:p>
            <a:pPr>
              <a:buFont typeface="Arial" panose="020B0604020202020204" pitchFamily="34" charset="0"/>
              <a:buChar char="•"/>
            </a:pPr>
            <a:r>
              <a:rPr lang="en-CA" sz="2200" dirty="0">
                <a:latin typeface="Arial" panose="020B0604020202020204" pitchFamily="34" charset="0"/>
                <a:cs typeface="Arial" panose="020B0604020202020204" pitchFamily="34" charset="0"/>
              </a:rPr>
              <a:t>MC0 misses many peptides</a:t>
            </a:r>
          </a:p>
          <a:p>
            <a:pPr>
              <a:buFont typeface="Arial" panose="020B0604020202020204" pitchFamily="34" charset="0"/>
              <a:buChar char="•"/>
            </a:pPr>
            <a:r>
              <a:rPr lang="en-CA" sz="2200" dirty="0">
                <a:latin typeface="Arial" panose="020B0604020202020204" pitchFamily="34" charset="0"/>
                <a:cs typeface="Arial" panose="020B0604020202020204" pitchFamily="34" charset="0"/>
              </a:rPr>
              <a:t>MC2 adds longer peptides, some of which may not be observed in practice, so increasing bias </a:t>
            </a:r>
          </a:p>
          <a:p>
            <a:endParaRPr lang="en-US" dirty="0"/>
          </a:p>
        </p:txBody>
      </p:sp>
    </p:spTree>
    <p:extLst>
      <p:ext uri="{BB962C8B-B14F-4D97-AF65-F5344CB8AC3E}">
        <p14:creationId xmlns:p14="http://schemas.microsoft.com/office/powerpoint/2010/main" val="1496561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55B4-D18A-A4AD-E2D4-2F98DC4FCCEA}"/>
              </a:ext>
            </a:extLst>
          </p:cNvPr>
          <p:cNvSpPr>
            <a:spLocks noGrp="1"/>
          </p:cNvSpPr>
          <p:nvPr>
            <p:ph type="title"/>
          </p:nvPr>
        </p:nvSpPr>
        <p:spPr>
          <a:xfrm>
            <a:off x="838200" y="239864"/>
            <a:ext cx="10515600" cy="1325563"/>
          </a:xfrm>
        </p:spPr>
        <p:txBody>
          <a:bodyPr>
            <a:normAutofit/>
          </a:bodyPr>
          <a:lstStyle/>
          <a:p>
            <a:r>
              <a:rPr lang="en-CA" sz="4000" b="1" dirty="0"/>
              <a:t>Proteomics TMT Data Analysis</a:t>
            </a:r>
            <a:endParaRPr lang="en-US" sz="4000" b="1" dirty="0"/>
          </a:p>
        </p:txBody>
      </p:sp>
      <p:sp>
        <p:nvSpPr>
          <p:cNvPr id="3" name="Content Placeholder 2">
            <a:extLst>
              <a:ext uri="{FF2B5EF4-FFF2-40B4-BE49-F238E27FC236}">
                <a16:creationId xmlns:a16="http://schemas.microsoft.com/office/drawing/2014/main" id="{247A2FF1-C6A3-2127-DA46-C16D63059B09}"/>
              </a:ext>
            </a:extLst>
          </p:cNvPr>
          <p:cNvSpPr>
            <a:spLocks noGrp="1"/>
          </p:cNvSpPr>
          <p:nvPr>
            <p:ph idx="1"/>
          </p:nvPr>
        </p:nvSpPr>
        <p:spPr>
          <a:xfrm>
            <a:off x="838200" y="1390389"/>
            <a:ext cx="10515600" cy="4786574"/>
          </a:xfrm>
        </p:spPr>
        <p:txBody>
          <a:bodyPr>
            <a:normAutofit fontScale="77500" lnSpcReduction="20000"/>
          </a:bodyPr>
          <a:lstStyle/>
          <a:p>
            <a:pPr>
              <a:lnSpc>
                <a:spcPct val="115000"/>
              </a:lnSpc>
              <a:spcAft>
                <a:spcPts val="800"/>
              </a:spcAft>
              <a:buNone/>
            </a:pPr>
            <a:r>
              <a:rPr lang="en-US" sz="2300" kern="100" dirty="0">
                <a:effectLst/>
                <a:latin typeface="Aptos" panose="020B0004020202020204" pitchFamily="34" charset="0"/>
                <a:ea typeface="DengXian" panose="02010600030101010101" pitchFamily="2" charset="-122"/>
                <a:cs typeface="Times New Roman" panose="02020603050405020304" pitchFamily="18" charset="0"/>
              </a:rPr>
              <a:t>The </a:t>
            </a:r>
            <a:r>
              <a:rPr lang="en-US" sz="2300" kern="100" dirty="0" err="1">
                <a:effectLst/>
                <a:latin typeface="Aptos" panose="020B0004020202020204" pitchFamily="34" charset="0"/>
                <a:ea typeface="DengXian" panose="02010600030101010101" pitchFamily="2" charset="-122"/>
                <a:cs typeface="Times New Roman" panose="02020603050405020304" pitchFamily="18" charset="0"/>
              </a:rPr>
              <a:t>ggplots</a:t>
            </a:r>
            <a:r>
              <a:rPr lang="en-US" sz="2300" kern="100" dirty="0">
                <a:effectLst/>
                <a:latin typeface="Aptos" panose="020B0004020202020204" pitchFamily="34" charset="0"/>
                <a:ea typeface="DengXian" panose="02010600030101010101" pitchFamily="2" charset="-122"/>
                <a:cs typeface="Times New Roman" panose="02020603050405020304" pitchFamily="18" charset="0"/>
              </a:rPr>
              <a:t> and </a:t>
            </a:r>
            <a:r>
              <a:rPr lang="en-US" sz="2300" kern="100" dirty="0" err="1">
                <a:effectLst/>
                <a:latin typeface="Aptos" panose="020B0004020202020204" pitchFamily="34" charset="0"/>
                <a:ea typeface="DengXian" panose="02010600030101010101" pitchFamily="2" charset="-122"/>
                <a:cs typeface="Times New Roman" panose="02020603050405020304" pitchFamily="18" charset="0"/>
              </a:rPr>
              <a:t>Matplots</a:t>
            </a:r>
            <a:r>
              <a:rPr lang="en-US" sz="2300" kern="100" dirty="0">
                <a:effectLst/>
                <a:latin typeface="Aptos" panose="020B0004020202020204" pitchFamily="34" charset="0"/>
                <a:ea typeface="DengXian" panose="02010600030101010101" pitchFamily="2" charset="-122"/>
                <a:cs typeface="Times New Roman" panose="02020603050405020304" pitchFamily="18" charset="0"/>
              </a:rPr>
              <a:t> compare the normalization and aggregation methods for protomeric LCMS data analysis. </a:t>
            </a:r>
            <a:endParaRPr lang="en-CA" sz="2300" kern="100" dirty="0">
              <a:effectLst/>
              <a:latin typeface="Aptos" panose="020B0004020202020204" pitchFamily="34" charset="0"/>
              <a:ea typeface="DengXian" panose="02010600030101010101" pitchFamily="2" charset="-122"/>
              <a:cs typeface="Times New Roman" panose="02020603050405020304" pitchFamily="18" charset="0"/>
            </a:endParaRPr>
          </a:p>
          <a:p>
            <a:pPr>
              <a:lnSpc>
                <a:spcPct val="115000"/>
              </a:lnSpc>
              <a:spcAft>
                <a:spcPts val="800"/>
              </a:spcAft>
              <a:buNone/>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The aggregation results align with the prediction that sum is sensitive to extreme peptides; mean is smoother but influenced by extremes; median is more reliable for protein-level values that reflect most peptides across all channels</a:t>
            </a:r>
          </a:p>
          <a:p>
            <a:pPr>
              <a:lnSpc>
                <a:spcPct val="115000"/>
              </a:lnSpc>
              <a:spcAft>
                <a:spcPts val="800"/>
              </a:spcAft>
              <a:buNone/>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Combined with normalization for better analysis choice: </a:t>
            </a:r>
          </a:p>
          <a:p>
            <a:pPr marL="342900" lvl="0" indent="-342900">
              <a:lnSpc>
                <a:spcPct val="115000"/>
              </a:lnSpc>
              <a:spcAft>
                <a:spcPts val="800"/>
              </a:spcAft>
              <a:buFont typeface="Symbol" pitchFamily="2" charset="2"/>
              <a:buChar char=""/>
              <a:tabLst>
                <a:tab pos="457200" algn="l"/>
              </a:tabLst>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Median aggregation + VSN normalization: robust protein quantification.</a:t>
            </a:r>
          </a:p>
          <a:p>
            <a:pPr marL="342900" lvl="0" indent="-342900">
              <a:lnSpc>
                <a:spcPct val="115000"/>
              </a:lnSpc>
              <a:spcAft>
                <a:spcPts val="800"/>
              </a:spcAft>
              <a:buFont typeface="Symbol" pitchFamily="2" charset="2"/>
              <a:buChar char=""/>
              <a:tabLst>
                <a:tab pos="457200" algn="l"/>
              </a:tabLst>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Sum aggregation + median normalization: may exaggerate high-intensity peptides.</a:t>
            </a:r>
          </a:p>
          <a:p>
            <a:pPr>
              <a:lnSpc>
                <a:spcPct val="115000"/>
              </a:lnSpc>
              <a:spcAft>
                <a:spcPts val="800"/>
              </a:spcAft>
              <a:buNone/>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 In general, flat lines across channels indicate good labeling and normalization:</a:t>
            </a:r>
          </a:p>
          <a:p>
            <a:pPr marL="342900" lvl="0" indent="-342900">
              <a:lnSpc>
                <a:spcPct val="115000"/>
              </a:lnSpc>
              <a:spcAft>
                <a:spcPts val="800"/>
              </a:spcAft>
              <a:buFont typeface="Symbol" pitchFamily="2" charset="2"/>
              <a:buChar char=""/>
              <a:tabLst>
                <a:tab pos="457200" algn="l"/>
              </a:tabLst>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Confirms consistency  </a:t>
            </a:r>
          </a:p>
          <a:p>
            <a:pPr marL="342900" lvl="0" indent="-342900">
              <a:lnSpc>
                <a:spcPct val="115000"/>
              </a:lnSpc>
              <a:spcAft>
                <a:spcPts val="800"/>
              </a:spcAft>
              <a:buFont typeface="Symbol" pitchFamily="2" charset="2"/>
              <a:buChar char=""/>
              <a:tabLst>
                <a:tab pos="457200" algn="l"/>
              </a:tabLst>
            </a:pPr>
            <a:r>
              <a:rPr lang="en-CA" sz="2300" kern="100" dirty="0">
                <a:effectLst/>
                <a:latin typeface="Aptos" panose="020B0004020202020204" pitchFamily="34" charset="0"/>
                <a:ea typeface="DengXian" panose="02010600030101010101" pitchFamily="2" charset="-122"/>
                <a:cs typeface="Times New Roman" panose="02020603050405020304" pitchFamily="18" charset="0"/>
              </a:rPr>
              <a:t>Distinguishes true biological changes from background noise</a:t>
            </a:r>
          </a:p>
          <a:p>
            <a:pPr marL="0" lvl="0" indent="0">
              <a:buSzPts val="1000"/>
              <a:buNone/>
              <a:tabLst>
                <a:tab pos="457200" algn="l"/>
              </a:tabLst>
            </a:pPr>
            <a:endParaRPr lang="en-CA" sz="1800" dirty="0">
              <a:effectLst/>
              <a:latin typeface="Arial" panose="020B0604020202020204" pitchFamily="34" charset="0"/>
              <a:ea typeface="Times New Roman" panose="02020603050405020304" pitchFamily="18" charset="0"/>
              <a:cs typeface="Arial" panose="020B0604020202020204" pitchFamily="34" charset="0"/>
            </a:endParaRPr>
          </a:p>
          <a:p>
            <a:endParaRPr lang="en-CA" sz="1800" dirty="0">
              <a:latin typeface="Arial" panose="020B0604020202020204" pitchFamily="34" charset="0"/>
              <a:cs typeface="Arial" panose="020B0604020202020204" pitchFamily="34" charset="0"/>
            </a:endParaRPr>
          </a:p>
          <a:p>
            <a:endParaRPr lang="en-CA" dirty="0"/>
          </a:p>
          <a:p>
            <a:endParaRPr lang="en-CA" dirty="0"/>
          </a:p>
          <a:p>
            <a:endParaRPr lang="en-CA" dirty="0"/>
          </a:p>
          <a:p>
            <a:endParaRPr lang="en-CA" dirty="0"/>
          </a:p>
          <a:p>
            <a:endParaRPr lang="en-US" dirty="0"/>
          </a:p>
        </p:txBody>
      </p:sp>
    </p:spTree>
    <p:extLst>
      <p:ext uri="{BB962C8B-B14F-4D97-AF65-F5344CB8AC3E}">
        <p14:creationId xmlns:p14="http://schemas.microsoft.com/office/powerpoint/2010/main" val="1328786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973C-9DC7-AEA6-797C-453949DFDB19}"/>
              </a:ext>
            </a:extLst>
          </p:cNvPr>
          <p:cNvSpPr>
            <a:spLocks noGrp="1"/>
          </p:cNvSpPr>
          <p:nvPr>
            <p:ph type="title"/>
          </p:nvPr>
        </p:nvSpPr>
        <p:spPr>
          <a:xfrm>
            <a:off x="838200" y="365126"/>
            <a:ext cx="10515600" cy="900004"/>
          </a:xfrm>
        </p:spPr>
        <p:txBody>
          <a:bodyPr>
            <a:normAutofit/>
          </a:bodyPr>
          <a:lstStyle/>
          <a:p>
            <a:r>
              <a:rPr lang="en-CA" sz="4000" b="1" dirty="0"/>
              <a:t>Data-Dependent Acquisition</a:t>
            </a:r>
            <a:endParaRPr lang="en-US" sz="4000" b="1" dirty="0"/>
          </a:p>
        </p:txBody>
      </p:sp>
      <p:sp>
        <p:nvSpPr>
          <p:cNvPr id="11" name="TextBox 10">
            <a:extLst>
              <a:ext uri="{FF2B5EF4-FFF2-40B4-BE49-F238E27FC236}">
                <a16:creationId xmlns:a16="http://schemas.microsoft.com/office/drawing/2014/main" id="{3B58A5E0-8A8E-F54E-E63E-52ED914C6EBA}"/>
              </a:ext>
            </a:extLst>
          </p:cNvPr>
          <p:cNvSpPr txBox="1"/>
          <p:nvPr/>
        </p:nvSpPr>
        <p:spPr>
          <a:xfrm>
            <a:off x="838200" y="1265130"/>
            <a:ext cx="9864246" cy="4154984"/>
          </a:xfrm>
          <a:prstGeom prst="rect">
            <a:avLst/>
          </a:prstGeom>
          <a:noFill/>
        </p:spPr>
        <p:txBody>
          <a:bodyPr wrap="square">
            <a:spAutoFit/>
          </a:bodyPr>
          <a:lstStyle/>
          <a:p>
            <a:pPr>
              <a:tabLst>
                <a:tab pos="2971800" algn="ctr"/>
                <a:tab pos="5943600" algn="r"/>
              </a:tabLst>
            </a:pPr>
            <a:r>
              <a:rPr lang="en-CA" sz="2200" kern="100" dirty="0">
                <a:effectLst/>
                <a:latin typeface="Arial" panose="020B0604020202020204" pitchFamily="34" charset="0"/>
                <a:ea typeface="DengXian" panose="02010600030101010101" pitchFamily="2" charset="-122"/>
                <a:cs typeface="Arial" panose="020B0604020202020204" pitchFamily="34" charset="0"/>
              </a:rPr>
              <a:t>DDA analysis is essential because it links MS1 precursor ions to MS2 fragmentation spectra, allowing accurate peptide and protein identification</a:t>
            </a:r>
            <a:r>
              <a:rPr lang="en-CA" sz="2200" kern="100" dirty="0">
                <a:latin typeface="Arial" panose="020B0604020202020204" pitchFamily="34" charset="0"/>
                <a:ea typeface="DengXian" panose="02010600030101010101" pitchFamily="2" charset="-122"/>
                <a:cs typeface="Arial" panose="020B0604020202020204" pitchFamily="34" charset="0"/>
              </a:rPr>
              <a:t> and QC steps. </a:t>
            </a:r>
            <a:r>
              <a:rPr lang="en-CA" sz="2200" kern="100" dirty="0">
                <a:effectLst/>
                <a:latin typeface="Arial" panose="020B0604020202020204" pitchFamily="34" charset="0"/>
                <a:ea typeface="DengXian" panose="02010600030101010101" pitchFamily="2" charset="-122"/>
                <a:cs typeface="Arial" panose="020B0604020202020204" pitchFamily="34" charset="0"/>
              </a:rPr>
              <a:t>This helps to ensure that the fragmentation data used in downstream identification pipelines is reliable and biologically meaningful. </a:t>
            </a:r>
            <a:r>
              <a:rPr lang="en-CA" sz="2200" i="1" dirty="0">
                <a:latin typeface="Arial" panose="020B0604020202020204" pitchFamily="34" charset="0"/>
                <a:cs typeface="Arial" panose="020B0604020202020204" pitchFamily="34" charset="0"/>
              </a:rPr>
              <a:t>(Aebersold &amp; Mann, 2016)</a:t>
            </a:r>
          </a:p>
          <a:p>
            <a:pPr>
              <a:buNone/>
              <a:tabLst>
                <a:tab pos="2971800" algn="ctr"/>
                <a:tab pos="5943600" algn="r"/>
              </a:tabLst>
            </a:pPr>
            <a:endParaRPr lang="en-CA" sz="2200" kern="100" dirty="0">
              <a:effectLst/>
              <a:latin typeface="Arial" panose="020B0604020202020204" pitchFamily="34" charset="0"/>
              <a:ea typeface="DengXian" panose="02010600030101010101" pitchFamily="2" charset="-122"/>
              <a:cs typeface="Arial" panose="020B0604020202020204" pitchFamily="34" charset="0"/>
            </a:endParaRPr>
          </a:p>
          <a:p>
            <a:pPr>
              <a:buNone/>
              <a:tabLst>
                <a:tab pos="2971800" algn="ctr"/>
                <a:tab pos="5943600" algn="r"/>
              </a:tabLst>
            </a:pPr>
            <a:r>
              <a:rPr lang="en-CA" sz="2200" kern="100" dirty="0">
                <a:effectLst/>
                <a:latin typeface="Arial" panose="020B0604020202020204" pitchFamily="34" charset="0"/>
                <a:ea typeface="DengXian" panose="02010600030101010101" pitchFamily="2" charset="-122"/>
                <a:cs typeface="Arial" panose="020B0604020202020204" pitchFamily="34" charset="0"/>
              </a:rPr>
              <a:t> </a:t>
            </a:r>
          </a:p>
          <a:p>
            <a:pPr>
              <a:tabLst>
                <a:tab pos="2971800" algn="ctr"/>
                <a:tab pos="5943600" algn="r"/>
              </a:tabLst>
            </a:pPr>
            <a:r>
              <a:rPr lang="en-CA" sz="2200" kern="100" dirty="0">
                <a:effectLst/>
                <a:latin typeface="Arial" panose="020B0604020202020204" pitchFamily="34" charset="0"/>
                <a:ea typeface="DengXian" panose="02010600030101010101" pitchFamily="2" charset="-122"/>
                <a:cs typeface="Arial" panose="020B0604020202020204" pitchFamily="34" charset="0"/>
              </a:rPr>
              <a:t>3D MS1 visualization improves DDA analysis by providing a view of signal intensity across m/z and retention time. Unlike TIC plots, which collapse all ions into a single trace, 3D surfaces reveal peak shapes, sample complexity, ion suppression regions, and chromatographic behavior all together. </a:t>
            </a:r>
          </a:p>
          <a:p>
            <a:pPr>
              <a:tabLst>
                <a:tab pos="2971800" algn="ctr"/>
                <a:tab pos="5943600" algn="r"/>
              </a:tabLst>
            </a:pPr>
            <a:r>
              <a:rPr lang="en-CA" sz="2200" b="0" i="0" dirty="0">
                <a:effectLst/>
                <a:latin typeface="Arial" panose="020B0604020202020204" pitchFamily="34" charset="0"/>
                <a:cs typeface="Arial" panose="020B0604020202020204" pitchFamily="34" charset="0"/>
              </a:rPr>
              <a:t>(Wang et al., 2023)</a:t>
            </a:r>
            <a:endParaRPr lang="en-CA" sz="2200" kern="100" dirty="0">
              <a:effectLst/>
              <a:latin typeface="Arial" panose="020B0604020202020204" pitchFamily="34" charset="0"/>
              <a:ea typeface="DengXian" panose="02010600030101010101" pitchFamily="2" charset="-122"/>
              <a:cs typeface="Arial" panose="020B0604020202020204" pitchFamily="34" charset="0"/>
            </a:endParaRPr>
          </a:p>
        </p:txBody>
      </p:sp>
    </p:spTree>
    <p:extLst>
      <p:ext uri="{BB962C8B-B14F-4D97-AF65-F5344CB8AC3E}">
        <p14:creationId xmlns:p14="http://schemas.microsoft.com/office/powerpoint/2010/main" val="405860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66CC1-48DB-C55C-FE33-3F6208C0AD04}"/>
              </a:ext>
            </a:extLst>
          </p:cNvPr>
          <p:cNvSpPr>
            <a:spLocks noGrp="1"/>
          </p:cNvSpPr>
          <p:nvPr>
            <p:ph type="title"/>
          </p:nvPr>
        </p:nvSpPr>
        <p:spPr/>
        <p:txBody>
          <a:bodyPr>
            <a:normAutofit/>
          </a:bodyPr>
          <a:lstStyle/>
          <a:p>
            <a:r>
              <a:rPr lang="en-US" sz="4000" b="1" dirty="0"/>
              <a:t>MyclassifR quantify analysis to develop  machine learning going forward </a:t>
            </a:r>
          </a:p>
        </p:txBody>
      </p:sp>
      <p:sp>
        <p:nvSpPr>
          <p:cNvPr id="3" name="Content Placeholder 2">
            <a:extLst>
              <a:ext uri="{FF2B5EF4-FFF2-40B4-BE49-F238E27FC236}">
                <a16:creationId xmlns:a16="http://schemas.microsoft.com/office/drawing/2014/main" id="{8BC3E55F-6884-AA7B-D89F-11C3D4F8FED7}"/>
              </a:ext>
            </a:extLst>
          </p:cNvPr>
          <p:cNvSpPr>
            <a:spLocks noGrp="1"/>
          </p:cNvSpPr>
          <p:nvPr>
            <p:ph idx="1"/>
          </p:nvPr>
        </p:nvSpPr>
        <p:spPr/>
        <p:txBody>
          <a:bodyPr>
            <a:noAutofit/>
          </a:bodyPr>
          <a:lstStyle/>
          <a:p>
            <a:r>
              <a:rPr lang="en-CA" sz="2400" dirty="0">
                <a:latin typeface="Arial" panose="020B0604020202020204" pitchFamily="34" charset="0"/>
                <a:cs typeface="Arial" panose="020B0604020202020204" pitchFamily="34" charset="0"/>
              </a:rPr>
              <a:t>The MALDI-TOF spectra were processed through stabilization, smoothing, and baseline correction to enhance reproducibility, confirmed by overlay plots.</a:t>
            </a:r>
          </a:p>
          <a:p>
            <a:endParaRPr lang="en-CA" sz="2400" dirty="0">
              <a:latin typeface="Arial" panose="020B0604020202020204" pitchFamily="34" charset="0"/>
              <a:cs typeface="Arial" panose="020B0604020202020204" pitchFamily="34" charset="0"/>
            </a:endParaRPr>
          </a:p>
          <a:p>
            <a:r>
              <a:rPr lang="en-CA" sz="2400" dirty="0">
                <a:latin typeface="Arial" panose="020B0604020202020204" pitchFamily="34" charset="0"/>
                <a:cs typeface="Arial" panose="020B0604020202020204" pitchFamily="34" charset="0"/>
              </a:rPr>
              <a:t> Principal Component Analysis revealed that PC1 captured the key differences between spectra, highlighting the distinguished bacterial strains. </a:t>
            </a:r>
          </a:p>
          <a:p>
            <a:endParaRPr lang="en-CA" sz="2400" dirty="0">
              <a:latin typeface="Arial" panose="020B0604020202020204" pitchFamily="34" charset="0"/>
              <a:cs typeface="Arial" panose="020B0604020202020204" pitchFamily="34" charset="0"/>
            </a:endParaRPr>
          </a:p>
          <a:p>
            <a:r>
              <a:rPr lang="en-CA" sz="2400" dirty="0">
                <a:latin typeface="Arial" panose="020B0604020202020204" pitchFamily="34" charset="0"/>
                <a:cs typeface="Arial" panose="020B0604020202020204" pitchFamily="34" charset="0"/>
              </a:rPr>
              <a:t>These features provide examples for future machine learning applications, where classifiers such as Random Forests or Support Vector Machines can leverage the aligned peak intensity matrix for accurate species-level identification. </a:t>
            </a:r>
          </a:p>
        </p:txBody>
      </p:sp>
    </p:spTree>
    <p:extLst>
      <p:ext uri="{BB962C8B-B14F-4D97-AF65-F5344CB8AC3E}">
        <p14:creationId xmlns:p14="http://schemas.microsoft.com/office/powerpoint/2010/main" val="2376155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BAC3-B30E-3B93-4811-6EC97ECC0EC0}"/>
              </a:ext>
            </a:extLst>
          </p:cNvPr>
          <p:cNvSpPr>
            <a:spLocks noGrp="1"/>
          </p:cNvSpPr>
          <p:nvPr>
            <p:ph type="title"/>
          </p:nvPr>
        </p:nvSpPr>
        <p:spPr/>
        <p:txBody>
          <a:bodyPr>
            <a:normAutofit/>
          </a:bodyPr>
          <a:lstStyle/>
          <a:p>
            <a:r>
              <a:rPr lang="en-CA" sz="4000" b="1" dirty="0">
                <a:latin typeface="Arial" panose="020B0604020202020204" pitchFamily="34" charset="0"/>
                <a:cs typeface="Arial" panose="020B0604020202020204" pitchFamily="34" charset="0"/>
              </a:rPr>
              <a:t>Next Steps &amp; Future Directions</a:t>
            </a:r>
            <a:endParaRPr lang="en-US"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5399EBC-4806-9774-C545-779770DDFF5C}"/>
              </a:ext>
            </a:extLst>
          </p:cNvPr>
          <p:cNvSpPr>
            <a:spLocks noGrp="1"/>
          </p:cNvSpPr>
          <p:nvPr>
            <p:ph idx="1"/>
          </p:nvPr>
        </p:nvSpPr>
        <p:spPr>
          <a:xfrm>
            <a:off x="838200" y="1550052"/>
            <a:ext cx="10515600" cy="4763066"/>
          </a:xfrm>
        </p:spPr>
        <p:txBody>
          <a:bodyPr>
            <a:normAutofit fontScale="77500" lnSpcReduction="20000"/>
          </a:bodyPr>
          <a:lstStyle/>
          <a:p>
            <a:pPr>
              <a:buNone/>
            </a:pPr>
            <a:r>
              <a:rPr lang="en-CA" b="1" dirty="0">
                <a:latin typeface="Arial" panose="020B0604020202020204" pitchFamily="34" charset="0"/>
                <a:cs typeface="Arial" panose="020B0604020202020204" pitchFamily="34" charset="0"/>
              </a:rPr>
              <a:t> Expand Precursor–MS1 Linking</a:t>
            </a:r>
          </a:p>
          <a:p>
            <a:pPr>
              <a:buFont typeface="Arial" panose="020B0604020202020204" pitchFamily="34" charset="0"/>
              <a:buChar char="•"/>
            </a:pPr>
            <a:r>
              <a:rPr lang="en-CA" dirty="0">
                <a:latin typeface="Arial" panose="020B0604020202020204" pitchFamily="34" charset="0"/>
                <a:cs typeface="Arial" panose="020B0604020202020204" pitchFamily="34" charset="0"/>
              </a:rPr>
              <a:t>Quantify precursor selection efficiency to identify low-intensity MS2 scans</a:t>
            </a:r>
          </a:p>
          <a:p>
            <a:pPr>
              <a:buFont typeface="Arial" panose="020B0604020202020204" pitchFamily="34" charset="0"/>
              <a:buChar char="•"/>
            </a:pPr>
            <a:r>
              <a:rPr lang="en-CA" dirty="0">
                <a:latin typeface="Arial" panose="020B0604020202020204" pitchFamily="34" charset="0"/>
                <a:cs typeface="Arial" panose="020B0604020202020204" pitchFamily="34" charset="0"/>
              </a:rPr>
              <a:t>Optimize ppm/RT tolerances for better matching </a:t>
            </a:r>
            <a:r>
              <a:rPr lang="en-CA" i="1" dirty="0">
                <a:latin typeface="Arial" panose="020B0604020202020204" pitchFamily="34" charset="0"/>
                <a:cs typeface="Arial" panose="020B0604020202020204" pitchFamily="34" charset="0"/>
              </a:rPr>
              <a:t>(Gatto &amp; Lilley, 2012)</a:t>
            </a:r>
          </a:p>
          <a:p>
            <a:pPr>
              <a:buFont typeface="Arial" panose="020B0604020202020204" pitchFamily="34" charset="0"/>
              <a:buChar char="•"/>
            </a:pPr>
            <a:endParaRPr lang="en-CA" dirty="0">
              <a:latin typeface="Arial" panose="020B0604020202020204" pitchFamily="34" charset="0"/>
              <a:cs typeface="Arial" panose="020B0604020202020204" pitchFamily="34" charset="0"/>
            </a:endParaRPr>
          </a:p>
          <a:p>
            <a:pPr>
              <a:buNone/>
            </a:pPr>
            <a:r>
              <a:rPr lang="en-CA" b="1" dirty="0">
                <a:latin typeface="Arial" panose="020B0604020202020204" pitchFamily="34" charset="0"/>
                <a:cs typeface="Arial" panose="020B0604020202020204" pitchFamily="34" charset="0"/>
              </a:rPr>
              <a:t>Strengthen LC–MS Quality Control</a:t>
            </a:r>
          </a:p>
          <a:p>
            <a:pPr>
              <a:buFont typeface="Arial" panose="020B0604020202020204" pitchFamily="34" charset="0"/>
              <a:buChar char="•"/>
            </a:pPr>
            <a:r>
              <a:rPr lang="en-CA" dirty="0">
                <a:latin typeface="Arial" panose="020B0604020202020204" pitchFamily="34" charset="0"/>
                <a:cs typeface="Arial" panose="020B0604020202020204" pitchFamily="34" charset="0"/>
              </a:rPr>
              <a:t>Compare multiple runs to detect instability or batch effects</a:t>
            </a:r>
          </a:p>
          <a:p>
            <a:pPr>
              <a:buFont typeface="Arial" panose="020B0604020202020204" pitchFamily="34" charset="0"/>
              <a:buChar char="•"/>
            </a:pPr>
            <a:r>
              <a:rPr lang="en-CA" dirty="0">
                <a:latin typeface="Arial" panose="020B0604020202020204" pitchFamily="34" charset="0"/>
                <a:cs typeface="Arial" panose="020B0604020202020204" pitchFamily="34" charset="0"/>
              </a:rPr>
              <a:t>Build automated QC filtering, trimming, assembly, annotation workflows in R </a:t>
            </a:r>
            <a:r>
              <a:rPr lang="en-CA" i="1" dirty="0">
                <a:latin typeface="Arial" panose="020B0604020202020204" pitchFamily="34" charset="0"/>
                <a:cs typeface="Arial" panose="020B0604020202020204" pitchFamily="34" charset="0"/>
              </a:rPr>
              <a:t>(Aebersold &amp; Mann, 2016)</a:t>
            </a:r>
          </a:p>
          <a:p>
            <a:pPr>
              <a:buFont typeface="Arial" panose="020B0604020202020204" pitchFamily="34" charset="0"/>
              <a:buChar char="•"/>
            </a:pPr>
            <a:endParaRPr lang="en-CA" dirty="0">
              <a:latin typeface="Arial" panose="020B0604020202020204" pitchFamily="34" charset="0"/>
              <a:cs typeface="Arial" panose="020B0604020202020204" pitchFamily="34" charset="0"/>
            </a:endParaRPr>
          </a:p>
          <a:p>
            <a:pPr>
              <a:buNone/>
            </a:pPr>
            <a:r>
              <a:rPr lang="en-CA" b="1" dirty="0">
                <a:latin typeface="Arial" panose="020B0604020202020204" pitchFamily="34" charset="0"/>
                <a:cs typeface="Arial" panose="020B0604020202020204" pitchFamily="34" charset="0"/>
              </a:rPr>
              <a:t>Machine Learning Expansion</a:t>
            </a:r>
          </a:p>
          <a:p>
            <a:pPr>
              <a:buFont typeface="Arial" panose="020B0604020202020204" pitchFamily="34" charset="0"/>
              <a:buChar char="•"/>
            </a:pPr>
            <a:r>
              <a:rPr lang="en-CA" dirty="0">
                <a:latin typeface="Arial" panose="020B0604020202020204" pitchFamily="34" charset="0"/>
                <a:cs typeface="Arial" panose="020B0604020202020204" pitchFamily="34" charset="0"/>
              </a:rPr>
              <a:t>Train models (Random Forest) to classify MS2 spectra qualities</a:t>
            </a:r>
          </a:p>
          <a:p>
            <a:pPr>
              <a:buFont typeface="Arial" panose="020B0604020202020204" pitchFamily="34" charset="0"/>
              <a:buChar char="•"/>
            </a:pPr>
            <a:r>
              <a:rPr lang="en-CA" dirty="0">
                <a:latin typeface="Arial" panose="020B0604020202020204" pitchFamily="34" charset="0"/>
                <a:cs typeface="Arial" panose="020B0604020202020204" pitchFamily="34" charset="0"/>
              </a:rPr>
              <a:t>Use precursor features (intensity, RT, noise) as predictors</a:t>
            </a:r>
          </a:p>
          <a:p>
            <a:pPr>
              <a:buFont typeface="Arial" panose="020B0604020202020204" pitchFamily="34" charset="0"/>
              <a:buChar char="•"/>
            </a:pPr>
            <a:r>
              <a:rPr lang="en-CA" dirty="0">
                <a:latin typeface="Arial" panose="020B0604020202020204" pitchFamily="34" charset="0"/>
                <a:cs typeface="Arial" panose="020B0604020202020204" pitchFamily="34" charset="0"/>
              </a:rPr>
              <a:t>Build a predictive QC model</a:t>
            </a:r>
          </a:p>
          <a:p>
            <a:endParaRPr lang="en-US" dirty="0"/>
          </a:p>
        </p:txBody>
      </p:sp>
    </p:spTree>
    <p:extLst>
      <p:ext uri="{BB962C8B-B14F-4D97-AF65-F5344CB8AC3E}">
        <p14:creationId xmlns:p14="http://schemas.microsoft.com/office/powerpoint/2010/main" val="2405358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AA13-5366-0E72-38E6-039E9226CDDA}"/>
              </a:ext>
            </a:extLst>
          </p:cNvPr>
          <p:cNvSpPr>
            <a:spLocks noGrp="1"/>
          </p:cNvSpPr>
          <p:nvPr>
            <p:ph type="title"/>
          </p:nvPr>
        </p:nvSpPr>
        <p:spPr/>
        <p:txBody>
          <a:bodyPr/>
          <a:lstStyle/>
          <a:p>
            <a:r>
              <a:rPr lang="en-US" dirty="0"/>
              <a:t>Reflection </a:t>
            </a:r>
          </a:p>
        </p:txBody>
      </p:sp>
      <p:sp>
        <p:nvSpPr>
          <p:cNvPr id="3" name="Content Placeholder 2">
            <a:extLst>
              <a:ext uri="{FF2B5EF4-FFF2-40B4-BE49-F238E27FC236}">
                <a16:creationId xmlns:a16="http://schemas.microsoft.com/office/drawing/2014/main" id="{9FD59E24-5C61-F1E6-D6BF-CD18EA2F9A63}"/>
              </a:ext>
            </a:extLst>
          </p:cNvPr>
          <p:cNvSpPr>
            <a:spLocks noGrp="1"/>
          </p:cNvSpPr>
          <p:nvPr>
            <p:ph idx="1"/>
          </p:nvPr>
        </p:nvSpPr>
        <p:spPr/>
        <p:txBody>
          <a:bodyPr/>
          <a:lstStyle/>
          <a:p>
            <a:pPr marL="0" indent="0">
              <a:buNone/>
            </a:pPr>
            <a:r>
              <a:rPr lang="en-CA" dirty="0"/>
              <a:t>Working on proteomic processing and DDA analysis with the </a:t>
            </a:r>
            <a:r>
              <a:rPr lang="en-CA" dirty="0" err="1"/>
              <a:t>MSnbase</a:t>
            </a:r>
            <a:r>
              <a:rPr lang="en-CA" dirty="0"/>
              <a:t> package has significantly strengthened both my technical and analytical skills. I learned how to handle raw mass spectrometry data, perform quality control, visualize spectra, and extract meaningful biological insights. The process also taught me different statistical choices during preprocessing, normalization, and spectra peaks analysis before downstream interpretation.</a:t>
            </a:r>
          </a:p>
          <a:p>
            <a:endParaRPr lang="en-US" dirty="0"/>
          </a:p>
        </p:txBody>
      </p:sp>
    </p:spTree>
    <p:extLst>
      <p:ext uri="{BB962C8B-B14F-4D97-AF65-F5344CB8AC3E}">
        <p14:creationId xmlns:p14="http://schemas.microsoft.com/office/powerpoint/2010/main" val="448606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2BF66-C0CE-0CBC-8621-1C840E8D0CF8}"/>
              </a:ext>
            </a:extLst>
          </p:cNvPr>
          <p:cNvSpPr>
            <a:spLocks noGrp="1"/>
          </p:cNvSpPr>
          <p:nvPr>
            <p:ph type="title"/>
          </p:nvPr>
        </p:nvSpPr>
        <p:spPr>
          <a:xfrm>
            <a:off x="577763" y="0"/>
            <a:ext cx="10515600" cy="1325563"/>
          </a:xfrm>
        </p:spPr>
        <p:txBody>
          <a:bodyPr>
            <a:normAutofit/>
          </a:bodyPr>
          <a:lstStyle/>
          <a:p>
            <a:r>
              <a:rPr lang="en-US" sz="4000" b="1" dirty="0"/>
              <a:t>Reference</a:t>
            </a:r>
            <a:r>
              <a:rPr lang="en-US" sz="4000" dirty="0"/>
              <a:t> </a:t>
            </a:r>
          </a:p>
        </p:txBody>
      </p:sp>
      <p:sp>
        <p:nvSpPr>
          <p:cNvPr id="3" name="Content Placeholder 2">
            <a:extLst>
              <a:ext uri="{FF2B5EF4-FFF2-40B4-BE49-F238E27FC236}">
                <a16:creationId xmlns:a16="http://schemas.microsoft.com/office/drawing/2014/main" id="{1436D431-1E3C-A29F-F227-EB38F1C36BEE}"/>
              </a:ext>
            </a:extLst>
          </p:cNvPr>
          <p:cNvSpPr>
            <a:spLocks noGrp="1"/>
          </p:cNvSpPr>
          <p:nvPr>
            <p:ph idx="1"/>
          </p:nvPr>
        </p:nvSpPr>
        <p:spPr>
          <a:xfrm>
            <a:off x="577763" y="951978"/>
            <a:ext cx="11036474" cy="5511452"/>
          </a:xfrm>
        </p:spPr>
        <p:txBody>
          <a:bodyPr>
            <a:noAutofit/>
          </a:bodyPr>
          <a:lstStyle/>
          <a:p>
            <a:pPr marL="342900" lvl="0" indent="-342900">
              <a:lnSpc>
                <a:spcPct val="115000"/>
              </a:lnSpc>
              <a:buFont typeface="+mj-lt"/>
              <a:buAutoNum type="arabicPeriod"/>
            </a:pPr>
            <a:r>
              <a:rPr lang="en-CA" sz="1600" kern="100" dirty="0">
                <a:effectLst/>
                <a:latin typeface="Arial" panose="020B0604020202020204" pitchFamily="34" charset="0"/>
                <a:ea typeface="DengXian" panose="02010600030101010101" pitchFamily="2" charset="-122"/>
                <a:cs typeface="Arial" panose="020B0604020202020204" pitchFamily="34" charset="0"/>
              </a:rPr>
              <a:t>Wang, R., Lu, M., An, S., Wang Jin-yin, &amp; Yu, C. (2023). 3D-MSNet: a point cloud-based deep learning model for untargeted feature detection and quantification in profile LC-HRMS data. </a:t>
            </a:r>
            <a:r>
              <a:rPr lang="en-CA" sz="1600" i="1" kern="100" dirty="0">
                <a:effectLst/>
                <a:latin typeface="Arial" panose="020B0604020202020204" pitchFamily="34" charset="0"/>
                <a:ea typeface="DengXian" panose="02010600030101010101" pitchFamily="2" charset="-122"/>
                <a:cs typeface="Arial" panose="020B0604020202020204" pitchFamily="34" charset="0"/>
              </a:rPr>
              <a:t>Bioinformatics</a:t>
            </a:r>
            <a:r>
              <a:rPr lang="en-CA" sz="1600" kern="100" dirty="0">
                <a:effectLst/>
                <a:latin typeface="Arial" panose="020B0604020202020204" pitchFamily="34" charset="0"/>
                <a:ea typeface="DengXian" panose="02010600030101010101" pitchFamily="2" charset="-122"/>
                <a:cs typeface="Arial" panose="020B0604020202020204" pitchFamily="34" charset="0"/>
              </a:rPr>
              <a:t>, </a:t>
            </a:r>
            <a:r>
              <a:rPr lang="en-CA" sz="1600" i="1" kern="100" dirty="0">
                <a:effectLst/>
                <a:latin typeface="Arial" panose="020B0604020202020204" pitchFamily="34" charset="0"/>
                <a:ea typeface="DengXian" panose="02010600030101010101" pitchFamily="2" charset="-122"/>
                <a:cs typeface="Arial" panose="020B0604020202020204" pitchFamily="34" charset="0"/>
              </a:rPr>
              <a:t>39</a:t>
            </a:r>
            <a:r>
              <a:rPr lang="en-CA" sz="1600" kern="100" dirty="0">
                <a:effectLst/>
                <a:latin typeface="Arial" panose="020B0604020202020204" pitchFamily="34" charset="0"/>
                <a:ea typeface="DengXian" panose="02010600030101010101" pitchFamily="2" charset="-122"/>
                <a:cs typeface="Arial" panose="020B0604020202020204" pitchFamily="34" charset="0"/>
              </a:rPr>
              <a:t>(5). https://</a:t>
            </a:r>
            <a:r>
              <a:rPr lang="en-CA" sz="1600" kern="100" dirty="0" err="1">
                <a:effectLst/>
                <a:latin typeface="Arial" panose="020B0604020202020204" pitchFamily="34" charset="0"/>
                <a:ea typeface="DengXian" panose="02010600030101010101" pitchFamily="2" charset="-122"/>
                <a:cs typeface="Arial" panose="020B0604020202020204" pitchFamily="34" charset="0"/>
              </a:rPr>
              <a:t>doi.org</a:t>
            </a:r>
            <a:r>
              <a:rPr lang="en-CA" sz="1600" kern="100" dirty="0">
                <a:effectLst/>
                <a:latin typeface="Arial" panose="020B0604020202020204" pitchFamily="34" charset="0"/>
                <a:ea typeface="DengXian" panose="02010600030101010101" pitchFamily="2" charset="-122"/>
                <a:cs typeface="Arial" panose="020B0604020202020204" pitchFamily="34" charset="0"/>
              </a:rPr>
              <a:t>/10.1093/bioinformatics/btad195</a:t>
            </a:r>
          </a:p>
          <a:p>
            <a:pPr marL="342900" lvl="0" indent="-342900">
              <a:lnSpc>
                <a:spcPct val="115000"/>
              </a:lnSpc>
              <a:buFont typeface="+mj-lt"/>
              <a:buAutoNum type="arabicPeriod"/>
            </a:pPr>
            <a:r>
              <a:rPr lang="en-CA" sz="1600" kern="100" dirty="0">
                <a:effectLst/>
                <a:latin typeface="Arial" panose="020B0604020202020204" pitchFamily="34" charset="0"/>
                <a:ea typeface="DengXian" panose="02010600030101010101" pitchFamily="2" charset="-122"/>
                <a:cs typeface="Arial" panose="020B0604020202020204" pitchFamily="34" charset="0"/>
              </a:rPr>
              <a:t>Gatto, L. &amp; Lilley, K. S. (2012). </a:t>
            </a:r>
            <a:r>
              <a:rPr lang="en-CA" sz="1600" kern="100" dirty="0" err="1">
                <a:effectLst/>
                <a:latin typeface="Arial" panose="020B0604020202020204" pitchFamily="34" charset="0"/>
                <a:ea typeface="DengXian" panose="02010600030101010101" pitchFamily="2" charset="-122"/>
                <a:cs typeface="Arial" panose="020B0604020202020204" pitchFamily="34" charset="0"/>
              </a:rPr>
              <a:t>MSnbase</a:t>
            </a:r>
            <a:r>
              <a:rPr lang="en-CA" sz="1600" kern="100" dirty="0">
                <a:effectLst/>
                <a:latin typeface="Arial" panose="020B0604020202020204" pitchFamily="34" charset="0"/>
                <a:ea typeface="DengXian" panose="02010600030101010101" pitchFamily="2" charset="-122"/>
                <a:cs typeface="Arial" panose="020B0604020202020204" pitchFamily="34" charset="0"/>
              </a:rPr>
              <a:t>—an R/Bioconductor package for isobaric tagged mass spectrometry data visualization, processing, and quantitation. </a:t>
            </a:r>
            <a:r>
              <a:rPr lang="en-CA" sz="1600" i="1" kern="100" dirty="0">
                <a:effectLst/>
                <a:latin typeface="Arial" panose="020B0604020202020204" pitchFamily="34" charset="0"/>
                <a:ea typeface="DengXian" panose="02010600030101010101" pitchFamily="2" charset="-122"/>
                <a:cs typeface="Arial" panose="020B0604020202020204" pitchFamily="34" charset="0"/>
              </a:rPr>
              <a:t>Bioinformatics</a:t>
            </a:r>
            <a:r>
              <a:rPr lang="en-CA" sz="1600" kern="100" dirty="0">
                <a:effectLst/>
                <a:latin typeface="Arial" panose="020B0604020202020204" pitchFamily="34" charset="0"/>
                <a:ea typeface="DengXian" panose="02010600030101010101" pitchFamily="2" charset="-122"/>
                <a:cs typeface="Arial" panose="020B0604020202020204" pitchFamily="34" charset="0"/>
              </a:rPr>
              <a:t>, 28(2), 288–289.</a:t>
            </a:r>
          </a:p>
          <a:p>
            <a:pPr marL="342900" lvl="0" indent="-342900">
              <a:lnSpc>
                <a:spcPct val="115000"/>
              </a:lnSpc>
              <a:buFont typeface="+mj-lt"/>
              <a:buAutoNum type="arabicPeriod"/>
            </a:pPr>
            <a:r>
              <a:rPr lang="en-CA" sz="1600" kern="100" dirty="0">
                <a:effectLst/>
                <a:latin typeface="Arial" panose="020B0604020202020204" pitchFamily="34" charset="0"/>
                <a:ea typeface="DengXian" panose="02010600030101010101" pitchFamily="2" charset="-122"/>
                <a:cs typeface="Arial" panose="020B0604020202020204" pitchFamily="34" charset="0"/>
              </a:rPr>
              <a:t>Aebersold, R. &amp; Mann, M. (2016). Mass-spectrometric exploration of proteome structure and function. </a:t>
            </a:r>
            <a:r>
              <a:rPr lang="en-CA" sz="1600" i="1" kern="100" dirty="0">
                <a:effectLst/>
                <a:latin typeface="Arial" panose="020B0604020202020204" pitchFamily="34" charset="0"/>
                <a:ea typeface="DengXian" panose="02010600030101010101" pitchFamily="2" charset="-122"/>
                <a:cs typeface="Arial" panose="020B0604020202020204" pitchFamily="34" charset="0"/>
              </a:rPr>
              <a:t>Nature</a:t>
            </a:r>
            <a:r>
              <a:rPr lang="en-CA" sz="1600" kern="100" dirty="0">
                <a:effectLst/>
                <a:latin typeface="Arial" panose="020B0604020202020204" pitchFamily="34" charset="0"/>
                <a:ea typeface="DengXian" panose="02010600030101010101" pitchFamily="2" charset="-122"/>
                <a:cs typeface="Arial" panose="020B0604020202020204" pitchFamily="34" charset="0"/>
              </a:rPr>
              <a:t>, 537, 347–355.</a:t>
            </a:r>
          </a:p>
          <a:p>
            <a:pPr marL="342900" lvl="0" indent="-342900">
              <a:lnSpc>
                <a:spcPct val="115000"/>
              </a:lnSpc>
              <a:buFont typeface="+mj-lt"/>
              <a:buAutoNum type="arabicPeriod"/>
            </a:pPr>
            <a:r>
              <a:rPr lang="en-CA" sz="1600" kern="100" dirty="0">
                <a:effectLst/>
                <a:latin typeface="Arial" panose="020B0604020202020204" pitchFamily="34" charset="0"/>
                <a:ea typeface="DengXian" panose="02010600030101010101" pitchFamily="2" charset="-122"/>
                <a:cs typeface="Arial" panose="020B0604020202020204" pitchFamily="34" charset="0"/>
              </a:rPr>
              <a:t> Chambers, M. C., Maclean, B., Burke, R., Amodei, D., Ruderman, D. L., Neumann, S., Gatto, L., Fischer, B., Pratt, B., Egertson, J., Hoff, K., Kessner, D., Tasman, N., Shulman, N., Frewen, B., Baker, T. A., </a:t>
            </a:r>
            <a:r>
              <a:rPr lang="en-CA" sz="1600" kern="100" dirty="0" err="1">
                <a:effectLst/>
                <a:latin typeface="Arial" panose="020B0604020202020204" pitchFamily="34" charset="0"/>
                <a:ea typeface="DengXian" panose="02010600030101010101" pitchFamily="2" charset="-122"/>
                <a:cs typeface="Arial" panose="020B0604020202020204" pitchFamily="34" charset="0"/>
              </a:rPr>
              <a:t>Brusniak</a:t>
            </a:r>
            <a:r>
              <a:rPr lang="en-CA" sz="1600" kern="100" dirty="0">
                <a:effectLst/>
                <a:latin typeface="Arial" panose="020B0604020202020204" pitchFamily="34" charset="0"/>
                <a:ea typeface="DengXian" panose="02010600030101010101" pitchFamily="2" charset="-122"/>
                <a:cs typeface="Arial" panose="020B0604020202020204" pitchFamily="34" charset="0"/>
              </a:rPr>
              <a:t>, M.-Y., Paulse, C., Creasy, D., &amp; Flashner, L. (2012). A cross-platform toolkit for mass spectrometry and proteomics. </a:t>
            </a:r>
            <a:r>
              <a:rPr lang="en-CA" sz="1600" i="1" kern="100" dirty="0">
                <a:effectLst/>
                <a:latin typeface="Arial" panose="020B0604020202020204" pitchFamily="34" charset="0"/>
                <a:ea typeface="DengXian" panose="02010600030101010101" pitchFamily="2" charset="-122"/>
                <a:cs typeface="Arial" panose="020B0604020202020204" pitchFamily="34" charset="0"/>
              </a:rPr>
              <a:t>Nature Biotechnology</a:t>
            </a:r>
            <a:r>
              <a:rPr lang="en-CA" sz="1600" kern="100" dirty="0">
                <a:effectLst/>
                <a:latin typeface="Arial" panose="020B0604020202020204" pitchFamily="34" charset="0"/>
                <a:ea typeface="DengXian" panose="02010600030101010101" pitchFamily="2" charset="-122"/>
                <a:cs typeface="Arial" panose="020B0604020202020204" pitchFamily="34" charset="0"/>
              </a:rPr>
              <a:t>, </a:t>
            </a:r>
            <a:r>
              <a:rPr lang="en-CA" sz="1600" i="1" kern="100" dirty="0">
                <a:effectLst/>
                <a:latin typeface="Arial" panose="020B0604020202020204" pitchFamily="34" charset="0"/>
                <a:ea typeface="DengXian" panose="02010600030101010101" pitchFamily="2" charset="-122"/>
                <a:cs typeface="Arial" panose="020B0604020202020204" pitchFamily="34" charset="0"/>
              </a:rPr>
              <a:t>30</a:t>
            </a:r>
            <a:r>
              <a:rPr lang="en-CA" sz="1600" kern="100" dirty="0">
                <a:effectLst/>
                <a:latin typeface="Arial" panose="020B0604020202020204" pitchFamily="34" charset="0"/>
                <a:ea typeface="DengXian" panose="02010600030101010101" pitchFamily="2" charset="-122"/>
                <a:cs typeface="Arial" panose="020B0604020202020204" pitchFamily="34" charset="0"/>
              </a:rPr>
              <a:t>(10), 918–920. </a:t>
            </a:r>
            <a:r>
              <a:rPr lang="en-CA" sz="1600" u="sng" kern="100" dirty="0">
                <a:effectLst/>
                <a:latin typeface="Arial" panose="020B0604020202020204" pitchFamily="34" charset="0"/>
                <a:ea typeface="DengXian" panose="02010600030101010101" pitchFamily="2" charset="-122"/>
                <a:cs typeface="Arial" panose="020B0604020202020204" pitchFamily="34" charset="0"/>
              </a:rPr>
              <a:t>https://</a:t>
            </a:r>
            <a:r>
              <a:rPr lang="en-CA" sz="1600" u="sng" kern="100" dirty="0" err="1">
                <a:effectLst/>
                <a:latin typeface="Arial" panose="020B0604020202020204" pitchFamily="34" charset="0"/>
                <a:ea typeface="DengXian" panose="02010600030101010101" pitchFamily="2" charset="-122"/>
                <a:cs typeface="Arial" panose="020B0604020202020204" pitchFamily="34" charset="0"/>
              </a:rPr>
              <a:t>doi.org</a:t>
            </a:r>
            <a:r>
              <a:rPr lang="en-CA" sz="1600" u="sng" kern="100" dirty="0">
                <a:effectLst/>
                <a:latin typeface="Arial" panose="020B0604020202020204" pitchFamily="34" charset="0"/>
                <a:ea typeface="DengXian" panose="02010600030101010101" pitchFamily="2" charset="-122"/>
                <a:cs typeface="Arial" panose="020B0604020202020204" pitchFamily="34" charset="0"/>
              </a:rPr>
              <a:t>/10.1038/nbt.2377</a:t>
            </a:r>
            <a:endParaRPr lang="en-CA" sz="1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Font typeface="+mj-lt"/>
              <a:buAutoNum type="arabicPeriod"/>
            </a:pPr>
            <a:r>
              <a:rPr lang="en-CA" sz="1600" kern="100" dirty="0">
                <a:effectLst/>
                <a:latin typeface="Arial" panose="020B0604020202020204" pitchFamily="34" charset="0"/>
                <a:ea typeface="DengXian" panose="02010600030101010101" pitchFamily="2" charset="-122"/>
                <a:cs typeface="Arial" panose="020B0604020202020204" pitchFamily="34" charset="0"/>
              </a:rPr>
              <a:t> Gibb, S., &amp; Strimmer, K. (2012). </a:t>
            </a:r>
            <a:r>
              <a:rPr lang="en-CA" sz="1600" kern="100" dirty="0" err="1">
                <a:effectLst/>
                <a:latin typeface="Arial" panose="020B0604020202020204" pitchFamily="34" charset="0"/>
                <a:ea typeface="DengXian" panose="02010600030101010101" pitchFamily="2" charset="-122"/>
                <a:cs typeface="Arial" panose="020B0604020202020204" pitchFamily="34" charset="0"/>
              </a:rPr>
              <a:t>MALDIquant</a:t>
            </a:r>
            <a:r>
              <a:rPr lang="en-CA" sz="1600" kern="100" dirty="0">
                <a:effectLst/>
                <a:latin typeface="Arial" panose="020B0604020202020204" pitchFamily="34" charset="0"/>
                <a:ea typeface="DengXian" panose="02010600030101010101" pitchFamily="2" charset="-122"/>
                <a:cs typeface="Arial" panose="020B0604020202020204" pitchFamily="34" charset="0"/>
              </a:rPr>
              <a:t>: a versatile R package for the analysis of mass spectrometry data. </a:t>
            </a:r>
            <a:r>
              <a:rPr lang="en-CA" sz="1600" i="1" kern="100" dirty="0">
                <a:effectLst/>
                <a:latin typeface="Arial" panose="020B0604020202020204" pitchFamily="34" charset="0"/>
                <a:ea typeface="DengXian" panose="02010600030101010101" pitchFamily="2" charset="-122"/>
                <a:cs typeface="Arial" panose="020B0604020202020204" pitchFamily="34" charset="0"/>
              </a:rPr>
              <a:t>Bioinformatics</a:t>
            </a:r>
            <a:r>
              <a:rPr lang="en-CA" sz="1600" kern="100" dirty="0">
                <a:effectLst/>
                <a:latin typeface="Arial" panose="020B0604020202020204" pitchFamily="34" charset="0"/>
                <a:ea typeface="DengXian" panose="02010600030101010101" pitchFamily="2" charset="-122"/>
                <a:cs typeface="Arial" panose="020B0604020202020204" pitchFamily="34" charset="0"/>
              </a:rPr>
              <a:t>, </a:t>
            </a:r>
            <a:r>
              <a:rPr lang="en-CA" sz="1600" i="1" kern="100" dirty="0">
                <a:effectLst/>
                <a:latin typeface="Arial" panose="020B0604020202020204" pitchFamily="34" charset="0"/>
                <a:ea typeface="DengXian" panose="02010600030101010101" pitchFamily="2" charset="-122"/>
                <a:cs typeface="Arial" panose="020B0604020202020204" pitchFamily="34" charset="0"/>
              </a:rPr>
              <a:t>28</a:t>
            </a:r>
            <a:r>
              <a:rPr lang="en-CA" sz="1600" kern="100" dirty="0">
                <a:effectLst/>
                <a:latin typeface="Arial" panose="020B0604020202020204" pitchFamily="34" charset="0"/>
                <a:ea typeface="DengXian" panose="02010600030101010101" pitchFamily="2" charset="-122"/>
                <a:cs typeface="Arial" panose="020B0604020202020204" pitchFamily="34" charset="0"/>
              </a:rPr>
              <a:t>(17), 2270–2271. </a:t>
            </a:r>
            <a:r>
              <a:rPr lang="en-CA" sz="1600" kern="100" dirty="0">
                <a:effectLst/>
                <a:latin typeface="Arial" panose="020B0604020202020204" pitchFamily="34" charset="0"/>
                <a:ea typeface="DengXian" panose="02010600030101010101" pitchFamily="2" charset="-122"/>
                <a:cs typeface="Arial" panose="020B0604020202020204" pitchFamily="34" charset="0"/>
                <a:hlinkClick r:id="rId2">
                  <a:extLst>
                    <a:ext uri="{A12FA001-AC4F-418D-AE19-62706E023703}">
                      <ahyp:hlinkClr xmlns:ahyp="http://schemas.microsoft.com/office/drawing/2018/hyperlinkcolor" val="tx"/>
                    </a:ext>
                  </a:extLst>
                </a:hlinkClick>
              </a:rPr>
              <a:t>https://doi.org/10.1093/bioinformatics/bts447</a:t>
            </a:r>
            <a:endParaRPr lang="en-CA" sz="1600" kern="100" dirty="0">
              <a:effectLst/>
              <a:latin typeface="Arial" panose="020B0604020202020204" pitchFamily="34" charset="0"/>
              <a:ea typeface="DengXian" panose="02010600030101010101" pitchFamily="2" charset="-122"/>
              <a:cs typeface="Arial" panose="020B0604020202020204" pitchFamily="34" charset="0"/>
            </a:endParaRPr>
          </a:p>
          <a:p>
            <a:pPr marL="342900" lvl="0" indent="-342900">
              <a:lnSpc>
                <a:spcPct val="115000"/>
              </a:lnSpc>
              <a:spcAft>
                <a:spcPts val="800"/>
              </a:spcAft>
              <a:buFont typeface="+mj-lt"/>
              <a:buAutoNum type="arabicPeriod"/>
            </a:pPr>
            <a:r>
              <a:rPr lang="en-CA" sz="1600" b="0" i="1" dirty="0">
                <a:effectLst/>
                <a:latin typeface="Arial" panose="020B0604020202020204" pitchFamily="34" charset="0"/>
                <a:cs typeface="Arial" panose="020B0604020202020204" pitchFamily="34" charset="0"/>
              </a:rPr>
              <a:t>Using R for proteomics data analysis</a:t>
            </a:r>
            <a:r>
              <a:rPr lang="en-CA" sz="1600" b="0" i="0" dirty="0">
                <a:effectLst/>
                <a:latin typeface="Arial" panose="020B0604020202020204" pitchFamily="34" charset="0"/>
                <a:cs typeface="Arial" panose="020B0604020202020204" pitchFamily="34" charset="0"/>
              </a:rPr>
              <a:t>. (2025, November 4). </a:t>
            </a:r>
            <a:r>
              <a:rPr lang="en-CA" sz="1600" b="0" i="0" dirty="0" err="1">
                <a:effectLst/>
                <a:latin typeface="Arial" panose="020B0604020202020204" pitchFamily="34" charset="0"/>
                <a:cs typeface="Arial" panose="020B0604020202020204" pitchFamily="34" charset="0"/>
              </a:rPr>
              <a:t>Bioconductor.org</a:t>
            </a:r>
            <a:r>
              <a:rPr lang="en-CA" sz="1600" b="0" i="0" dirty="0">
                <a:effectLst/>
                <a:latin typeface="Arial" panose="020B0604020202020204" pitchFamily="34" charset="0"/>
                <a:cs typeface="Arial" panose="020B0604020202020204" pitchFamily="34" charset="0"/>
              </a:rPr>
              <a:t>. https://</a:t>
            </a:r>
            <a:r>
              <a:rPr lang="en-CA" sz="1600" b="0" i="0" dirty="0" err="1">
                <a:effectLst/>
                <a:latin typeface="Arial" panose="020B0604020202020204" pitchFamily="34" charset="0"/>
                <a:cs typeface="Arial" panose="020B0604020202020204" pitchFamily="34" charset="0"/>
              </a:rPr>
              <a:t>bioconductor.org</a:t>
            </a:r>
            <a:r>
              <a:rPr lang="en-CA" sz="1600" b="0" i="0" dirty="0">
                <a:effectLst/>
                <a:latin typeface="Arial" panose="020B0604020202020204" pitchFamily="34" charset="0"/>
                <a:cs typeface="Arial" panose="020B0604020202020204" pitchFamily="34" charset="0"/>
              </a:rPr>
              <a:t>/packages/release/data/experiment/vignettes/</a:t>
            </a:r>
            <a:r>
              <a:rPr lang="en-CA" sz="1600" b="0" i="0" dirty="0" err="1">
                <a:effectLst/>
                <a:latin typeface="Arial" panose="020B0604020202020204" pitchFamily="34" charset="0"/>
                <a:cs typeface="Arial" panose="020B0604020202020204" pitchFamily="34" charset="0"/>
              </a:rPr>
              <a:t>RforProteomics</a:t>
            </a:r>
            <a:r>
              <a:rPr lang="en-CA" sz="1600" b="0" i="0" dirty="0">
                <a:effectLst/>
                <a:latin typeface="Arial" panose="020B0604020202020204" pitchFamily="34" charset="0"/>
                <a:cs typeface="Arial" panose="020B0604020202020204" pitchFamily="34" charset="0"/>
              </a:rPr>
              <a:t>/</a:t>
            </a:r>
            <a:r>
              <a:rPr lang="en-CA" sz="1600" b="0" i="0" dirty="0" err="1">
                <a:effectLst/>
                <a:latin typeface="Arial" panose="020B0604020202020204" pitchFamily="34" charset="0"/>
                <a:cs typeface="Arial" panose="020B0604020202020204" pitchFamily="34" charset="0"/>
              </a:rPr>
              <a:t>inst</a:t>
            </a:r>
            <a:r>
              <a:rPr lang="en-CA" sz="1600" b="0" i="0" dirty="0">
                <a:effectLst/>
                <a:latin typeface="Arial" panose="020B0604020202020204" pitchFamily="34" charset="0"/>
                <a:cs typeface="Arial" panose="020B0604020202020204" pitchFamily="34" charset="0"/>
              </a:rPr>
              <a:t>/doc/</a:t>
            </a:r>
            <a:r>
              <a:rPr lang="en-CA" sz="1600" b="0" i="0" dirty="0" err="1">
                <a:effectLst/>
                <a:latin typeface="Arial" panose="020B0604020202020204" pitchFamily="34" charset="0"/>
                <a:cs typeface="Arial" panose="020B0604020202020204" pitchFamily="34" charset="0"/>
              </a:rPr>
              <a:t>RforProteomics.html#Using_R_for_proteomics_data_analysis</a:t>
            </a:r>
            <a:endParaRPr lang="en-CA" sz="1600" b="0" i="0" dirty="0">
              <a:effectLst/>
              <a:latin typeface="Arial" panose="020B0604020202020204" pitchFamily="34" charset="0"/>
              <a:cs typeface="Arial" panose="020B0604020202020204" pitchFamily="34" charset="0"/>
            </a:endParaRPr>
          </a:p>
          <a:p>
            <a:pPr marL="0" indent="0">
              <a:buNone/>
            </a:pPr>
            <a:endParaRPr lang="en-CA" sz="1600" dirty="0">
              <a:latin typeface="Arial" panose="020B0604020202020204" pitchFamily="34" charset="0"/>
              <a:cs typeface="Arial" panose="020B0604020202020204" pitchFamily="34" charset="0"/>
            </a:endParaRPr>
          </a:p>
          <a:p>
            <a:pPr marL="514350" indent="-514350" algn="l">
              <a:buAutoNum type="arabicPeriod"/>
            </a:pPr>
            <a:endParaRPr lang="en-CA" sz="1600" b="0" i="0" dirty="0">
              <a:solidFill>
                <a:srgbClr val="000000"/>
              </a:solidFill>
              <a:effectLst/>
              <a:latin typeface="Arial" panose="020B0604020202020204" pitchFamily="34" charset="0"/>
              <a:cs typeface="Arial" panose="020B0604020202020204" pitchFamily="34" charset="0"/>
            </a:endParaRPr>
          </a:p>
          <a:p>
            <a:pPr algn="l"/>
            <a:endParaRPr lang="en-CA" sz="1600" b="0" i="0" dirty="0">
              <a:solidFill>
                <a:srgbClr val="000000"/>
              </a:solidFill>
              <a:effectLst/>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3552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3573</TotalTime>
  <Words>2375</Words>
  <Application>Microsoft Macintosh PowerPoint</Application>
  <PresentationFormat>Widescreen</PresentationFormat>
  <Paragraphs>221</Paragraphs>
  <Slides>23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Roboto</vt:lpstr>
      <vt:lpstr>Symbol</vt:lpstr>
      <vt:lpstr>Office Theme</vt:lpstr>
      <vt:lpstr>Optimizing Proteomic Workflows: Impact of Analytical Decisions and Software Tools</vt:lpstr>
      <vt:lpstr>Visualisation of proteomics data using R</vt:lpstr>
      <vt:lpstr>MALDIquant, BRAIN and MyclassifR are R packages to process and analyze different types of proteomic M1 mass-spectrometry data. </vt:lpstr>
      <vt:lpstr>MSnbase: An R Toolkit for Processing, Visualizing, and Quantifying LC-MS/MS Proteomics Data</vt:lpstr>
      <vt:lpstr>Objectives</vt:lpstr>
      <vt:lpstr>Dataset for MSnbase analysis: PXD000001</vt:lpstr>
      <vt:lpstr>Dataset for MALDIquant and MyclassifR</vt:lpstr>
      <vt:lpstr>Pipeline for MSnbase aggregation and normalization comparison </vt:lpstr>
      <vt:lpstr>Pipeline for missed-cleavage analysis using OrgMassSpecR  </vt:lpstr>
      <vt:lpstr>Pipeline for MSnbase DDA analysis  </vt:lpstr>
      <vt:lpstr>Pipeline for MALDIquant and MyclassifR package</vt:lpstr>
      <vt:lpstr>Peptide length analysis confirms that missed cleavages options increase peptide length and distribution, which affects the detection possibility</vt:lpstr>
      <vt:lpstr>MSnbase DDA analysis</vt:lpstr>
      <vt:lpstr>TOF data processing and analyzing </vt:lpstr>
      <vt:lpstr>Proteomics TMT Data Analysis</vt:lpstr>
      <vt:lpstr>Proteomics TMT Data Analysis continue: highlight standards for Incomplete dissociation plot</vt:lpstr>
      <vt:lpstr>missed-cleavage analysis:MC1 is more optimal for trypsin digestion of ENO1 </vt:lpstr>
      <vt:lpstr>Proteomics TMT Data Analysis</vt:lpstr>
      <vt:lpstr>Data-Dependent Acquisition</vt:lpstr>
      <vt:lpstr>MyclassifR quantify analysis to develop  machine learning going forward </vt:lpstr>
      <vt:lpstr>Next Steps &amp; Future Directions</vt:lpstr>
      <vt:lpstr>Reflection </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 Yu Ying [Student]</dc:creator>
  <cp:lastModifiedBy>Tan, Yu Ying [Student]</cp:lastModifiedBy>
  <cp:revision>53</cp:revision>
  <dcterms:created xsi:type="dcterms:W3CDTF">2025-12-03T16:18:01Z</dcterms:created>
  <dcterms:modified xsi:type="dcterms:W3CDTF">2025-12-06T03:51:54Z</dcterms:modified>
</cp:coreProperties>
</file>