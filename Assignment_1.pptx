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57" r:id="rId5"/>
    <p:sldId id="266" r:id="rId6"/>
    <p:sldId id="270" r:id="rId7"/>
    <p:sldId id="259" r:id="rId8"/>
    <p:sldId id="263" r:id="rId9"/>
    <p:sldId id="267" r:id="rId10"/>
    <p:sldId id="261" r:id="rId11"/>
    <p:sldId id="264" r:id="rId12"/>
    <p:sldId id="269" r:id="rId13"/>
    <p:sldId id="268" r:id="rId14"/>
    <p:sldId id="265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7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3B85F-3ED9-AD49-99DF-DF090D76E12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B8988-0112-1747-9CBC-CD9315F0C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3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B8988-0112-1747-9CBC-CD9315F0C1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8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003228"/>
            <a:ext cx="8436279" cy="2343303"/>
          </a:xfrm>
        </p:spPr>
        <p:txBody>
          <a:bodyPr>
            <a:normAutofit/>
          </a:bodyPr>
          <a:lstStyle/>
          <a:p>
            <a:r>
              <a:rPr b="1" dirty="0"/>
              <a:t>Using BIN to </a:t>
            </a:r>
            <a:r>
              <a:rPr lang="en-CA" b="1" dirty="0"/>
              <a:t>illustrate </a:t>
            </a:r>
            <a:r>
              <a:rPr b="1" dirty="0"/>
              <a:t>Geographic Speciation in Corydoras Catfish Across South 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811E-EDC4-4CA0-1B01-D219BA77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b="1" dirty="0"/>
              <a:t>Studying biodiversity and speciation helps to understand where life came from, how it works, and how to protect it.</a:t>
            </a:r>
            <a:endParaRPr lang="en-US" sz="24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AA75DA-B978-480D-9FFB-FC537DD26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35" y="1971914"/>
            <a:ext cx="4202483" cy="476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EFFE20-0362-CF78-DD87-ACD746257E8A}"/>
              </a:ext>
            </a:extLst>
          </p:cNvPr>
          <p:cNvSpPr txBox="1"/>
          <p:nvPr/>
        </p:nvSpPr>
        <p:spPr>
          <a:xfrm>
            <a:off x="648222" y="1325583"/>
            <a:ext cx="8127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+mj-lt"/>
              </a:rPr>
              <a:t>The species richness estimates for Neotropical freshwater fishes in South America, and a certain of which are currently undefined clearly. </a:t>
            </a:r>
            <a:r>
              <a:rPr lang="en-CA" b="0" i="0" dirty="0">
                <a:effectLst/>
                <a:latin typeface="+mj-lt"/>
              </a:rPr>
              <a:t>(Reis et al., 2016</a:t>
            </a:r>
            <a:r>
              <a:rPr lang="en-CA" b="0" i="0" dirty="0">
                <a:solidFill>
                  <a:srgbClr val="2C3E50"/>
                </a:solidFill>
                <a:effectLst/>
                <a:latin typeface="+mj-lt"/>
              </a:rPr>
              <a:t>)</a:t>
            </a:r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252E1E-A342-76E9-486F-FD05AC28455F}"/>
              </a:ext>
            </a:extLst>
          </p:cNvPr>
          <p:cNvSpPr txBox="1"/>
          <p:nvPr/>
        </p:nvSpPr>
        <p:spPr>
          <a:xfrm>
            <a:off x="4204048" y="610339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C3E50"/>
                </a:solidFill>
                <a:effectLst/>
                <a:latin typeface="Roboto" panose="02000000000000000000" pitchFamily="2" charset="0"/>
              </a:rPr>
              <a:t>(Reis et al., 2016)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023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33" y="227905"/>
            <a:ext cx="8799534" cy="1143000"/>
          </a:xfrm>
        </p:spPr>
        <p:txBody>
          <a:bodyPr>
            <a:noAutofit/>
          </a:bodyPr>
          <a:lstStyle/>
          <a:p>
            <a:r>
              <a:rPr lang="en-CA" sz="2400" b="1" dirty="0"/>
              <a:t>South America has the most biodiversity and speciation for the fresh-water fishes, due to geological barriers(rivers division)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726" y="1111684"/>
            <a:ext cx="8434937" cy="880824"/>
          </a:xfrm>
        </p:spPr>
        <p:txBody>
          <a:bodyPr>
            <a:normAutofit fontScale="92500" lnSpcReduction="10000"/>
          </a:bodyPr>
          <a:lstStyle/>
          <a:p>
            <a:endParaRPr lang="en-CA" sz="1600" dirty="0"/>
          </a:p>
          <a:p>
            <a:r>
              <a:rPr lang="en-CA" sz="1800" dirty="0">
                <a:latin typeface="+mj-lt"/>
                <a:cs typeface="Arial" panose="020B0604020202020204" pitchFamily="34" charset="0"/>
              </a:rPr>
              <a:t>Distribution map of </a:t>
            </a:r>
            <a:r>
              <a:rPr lang="en-CA" sz="1800" b="0" i="1" dirty="0" err="1">
                <a:effectLst/>
                <a:latin typeface="+mj-lt"/>
                <a:cs typeface="Arial" panose="020B0604020202020204" pitchFamily="34" charset="0"/>
              </a:rPr>
              <a:t>Urkumayu</a:t>
            </a:r>
            <a:r>
              <a:rPr lang="en-CA" sz="1800" b="0" i="1" dirty="0"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lang="en-CA" sz="1800" b="0" dirty="0">
                <a:effectLst/>
                <a:latin typeface="+mj-lt"/>
                <a:cs typeface="Arial" panose="020B0604020202020204" pitchFamily="34" charset="0"/>
              </a:rPr>
              <a:t>sister genus of </a:t>
            </a:r>
            <a:r>
              <a:rPr lang="en-CA" sz="1800" b="0" i="1" dirty="0">
                <a:effectLst/>
                <a:latin typeface="+mj-lt"/>
                <a:cs typeface="Arial" panose="020B0604020202020204" pitchFamily="34" charset="0"/>
              </a:rPr>
              <a:t>corydoras </a:t>
            </a:r>
            <a:r>
              <a:rPr lang="en-CA" sz="1800" b="0" i="0" dirty="0">
                <a:effectLst/>
                <a:latin typeface="+mj-lt"/>
                <a:cs typeface="Arial" panose="020B0604020202020204" pitchFamily="34" charset="0"/>
              </a:rPr>
              <a:t>(Alonso et al., 2024)</a:t>
            </a:r>
            <a:endParaRPr lang="en-US" sz="1800" dirty="0">
              <a:latin typeface="+mj-lt"/>
              <a:cs typeface="Arial" panose="020B0604020202020204" pitchFamily="34" charset="0"/>
            </a:endParaRPr>
          </a:p>
          <a:p>
            <a:r>
              <a:rPr sz="1800" dirty="0">
                <a:latin typeface="+mj-lt"/>
                <a:cs typeface="Arial" panose="020B0604020202020204" pitchFamily="34" charset="0"/>
              </a:rPr>
              <a:t>Major basins: Amazon, Orinoco, Paraná, São Francisco</a:t>
            </a:r>
            <a:r>
              <a:rPr lang="en-CA" sz="1800" dirty="0">
                <a:latin typeface="+mj-lt"/>
                <a:cs typeface="Arial" panose="020B0604020202020204" pitchFamily="34" charset="0"/>
              </a:rPr>
              <a:t> </a:t>
            </a:r>
            <a:r>
              <a:rPr lang="en-CA" sz="1800" b="0" i="0" dirty="0">
                <a:effectLst/>
                <a:latin typeface="+mj-lt"/>
                <a:cs typeface="Arial" panose="020B0604020202020204" pitchFamily="34" charset="0"/>
              </a:rPr>
              <a:t>(Reis et al., 2016).</a:t>
            </a:r>
            <a:endParaRPr lang="en-CA" sz="1800" dirty="0">
              <a:latin typeface="+mj-lt"/>
              <a:cs typeface="Arial" panose="020B0604020202020204" pitchFamily="34" charset="0"/>
            </a:endParaRPr>
          </a:p>
          <a:p>
            <a:endParaRPr lang="en-CA" sz="1600" dirty="0"/>
          </a:p>
          <a:p>
            <a:endParaRPr sz="1600" dirty="0"/>
          </a:p>
        </p:txBody>
      </p:sp>
      <p:pic>
        <p:nvPicPr>
          <p:cNvPr id="1026" name="Picture 2" descr="Fig. 6">
            <a:extLst>
              <a:ext uri="{FF2B5EF4-FFF2-40B4-BE49-F238E27FC236}">
                <a16:creationId xmlns:a16="http://schemas.microsoft.com/office/drawing/2014/main" id="{2DFC9037-8EFF-DDE1-874E-F8E4DFBB1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17" y="2080191"/>
            <a:ext cx="6490271" cy="46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6DC63C-AAC4-F35B-5EF7-CF71CEB89F0C}"/>
              </a:ext>
            </a:extLst>
          </p:cNvPr>
          <p:cNvSpPr txBox="1"/>
          <p:nvPr/>
        </p:nvSpPr>
        <p:spPr>
          <a:xfrm>
            <a:off x="6858000" y="648589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C3E50"/>
                </a:solidFill>
                <a:effectLst/>
                <a:latin typeface="Roboto" panose="02000000000000000000" pitchFamily="2" charset="0"/>
              </a:rPr>
              <a:t>(Alonso et al., 2024)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93634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CA" sz="3200" b="1" dirty="0"/>
              <a:t>DNA barcoding analysis on the Allopatric Speciation distribution map of corydoras species remains unclear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7779"/>
            <a:ext cx="8229600" cy="4525963"/>
          </a:xfrm>
        </p:spPr>
        <p:txBody>
          <a:bodyPr>
            <a:normAutofit/>
          </a:bodyPr>
          <a:lstStyle/>
          <a:p>
            <a:endParaRPr lang="en-CA" sz="2400" dirty="0">
              <a:latin typeface="+mj-lt"/>
            </a:endParaRPr>
          </a:p>
          <a:p>
            <a:pPr algn="just"/>
            <a:r>
              <a:rPr lang="en-CA" sz="2400" dirty="0">
                <a:latin typeface="+mj-lt"/>
              </a:rPr>
              <a:t>Previous experiments have applied Morphological Analysis, and DNA/16sRNA sequencing. </a:t>
            </a:r>
            <a:r>
              <a:rPr lang="en-CA" sz="2400" i="0" dirty="0">
                <a:effectLst/>
                <a:latin typeface="+mj-lt"/>
              </a:rPr>
              <a:t>(Dudgeon et al., 2006)</a:t>
            </a:r>
          </a:p>
          <a:p>
            <a:pPr algn="just"/>
            <a:endParaRPr lang="en-CA" sz="2400" dirty="0">
              <a:latin typeface="+mj-lt"/>
            </a:endParaRPr>
          </a:p>
          <a:p>
            <a:pPr algn="just"/>
            <a:r>
              <a:rPr lang="en-CA" sz="2400" dirty="0">
                <a:latin typeface="+mj-lt"/>
              </a:rPr>
              <a:t>This study will be focusing on using </a:t>
            </a:r>
            <a:r>
              <a:rPr lang="en-CA" sz="2400" i="1" dirty="0">
                <a:latin typeface="+mj-lt"/>
              </a:rPr>
              <a:t>corydoras</a:t>
            </a:r>
            <a:r>
              <a:rPr lang="en-CA" sz="2400" dirty="0">
                <a:latin typeface="+mj-lt"/>
              </a:rPr>
              <a:t> BINs (a cluster of COI sequences) to address the distribution and speciation pattens. </a:t>
            </a:r>
          </a:p>
          <a:p>
            <a:pPr algn="just"/>
            <a:endParaRPr lang="en-CA" sz="2400" dirty="0">
              <a:latin typeface="+mj-lt"/>
            </a:endParaRPr>
          </a:p>
          <a:p>
            <a:pPr algn="just"/>
            <a:r>
              <a:rPr lang="en-CA" sz="2400" dirty="0">
                <a:latin typeface="+mj-lt"/>
              </a:rPr>
              <a:t>DNA barcoding is a more rapid way for detecting cryptic species</a:t>
            </a:r>
            <a:endParaRPr sz="24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0EC6-D130-F112-58E4-DF21F8B9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Hypothesis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7E5A0-8574-08D2-E27B-55B07868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Corydoras populations in different regions will show distinct BIN compositions due to geographic isolation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F4E1-EC8C-CA71-352F-37B77E16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59C4-0B4E-2505-DEBD-63518A19C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</a:t>
            </a:r>
            <a:r>
              <a:rPr lang="en-US" dirty="0" err="1"/>
              <a:t>ggplot</a:t>
            </a:r>
            <a:r>
              <a:rPr lang="en-US" dirty="0"/>
              <a:t> to map the distribution of </a:t>
            </a:r>
            <a:r>
              <a:rPr lang="en-US" i="1" dirty="0"/>
              <a:t>corydoras </a:t>
            </a:r>
            <a:r>
              <a:rPr lang="en-US" dirty="0"/>
              <a:t>species on the South America map.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Plot a histogram to show and compare any unique species across different regions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NMDS test to address the dissimilarities between species at each site</a:t>
            </a:r>
          </a:p>
        </p:txBody>
      </p:sp>
    </p:spTree>
    <p:extLst>
      <p:ext uri="{BB962C8B-B14F-4D97-AF65-F5344CB8AC3E}">
        <p14:creationId xmlns:p14="http://schemas.microsoft.com/office/powerpoint/2010/main" val="54325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Collection &amp; Analysis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Download BIN data from BOLD.</a:t>
            </a:r>
          </a:p>
          <a:p>
            <a:pPr marL="0" indent="0">
              <a:buNone/>
            </a:pPr>
            <a:r>
              <a:rPr dirty="0"/>
              <a:t>2. Clean </a:t>
            </a:r>
            <a:r>
              <a:rPr lang="en-CA" dirty="0"/>
              <a:t>and sort </a:t>
            </a:r>
            <a:r>
              <a:rPr dirty="0"/>
              <a:t>data in R.</a:t>
            </a:r>
          </a:p>
          <a:p>
            <a:pPr marL="0" indent="0">
              <a:buNone/>
            </a:pPr>
            <a:r>
              <a:rPr dirty="0"/>
              <a:t>3. Map BINs using ggplot2.</a:t>
            </a:r>
          </a:p>
          <a:p>
            <a:pPr marL="0" indent="0">
              <a:buNone/>
            </a:pPr>
            <a:r>
              <a:rPr dirty="0"/>
              <a:t>4. Build BIN × region matrix.</a:t>
            </a:r>
          </a:p>
          <a:p>
            <a:pPr marL="0" indent="0">
              <a:buNone/>
            </a:pPr>
            <a:r>
              <a:rPr dirty="0"/>
              <a:t>6. NMDS for ordination.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5468" y="274638"/>
            <a:ext cx="8912268" cy="1143000"/>
          </a:xfrm>
        </p:spPr>
        <p:txBody>
          <a:bodyPr>
            <a:noAutofit/>
          </a:bodyPr>
          <a:lstStyle/>
          <a:p>
            <a:r>
              <a:rPr lang="en-CA" sz="3200" b="1" dirty="0">
                <a:latin typeface="+mn-lt"/>
              </a:rPr>
              <a:t>The histogram shows that Bolivia significantly contains the most Corydoras</a:t>
            </a:r>
            <a:r>
              <a:rPr lang="zh-CN" altLang="en-US" sz="3200" b="1" dirty="0">
                <a:latin typeface="+mn-lt"/>
              </a:rPr>
              <a:t> </a:t>
            </a:r>
            <a:r>
              <a:rPr lang="en-US" altLang="zh-CN" sz="3200" b="1" dirty="0">
                <a:latin typeface="+mn-lt"/>
              </a:rPr>
              <a:t>species</a:t>
            </a:r>
            <a:r>
              <a:rPr lang="en-CA" altLang="zh-CN" sz="3200" b="1" dirty="0">
                <a:latin typeface="+mn-lt"/>
              </a:rPr>
              <a:t>/Bin numbers</a:t>
            </a:r>
            <a:endParaRPr sz="3200" b="1" dirty="0">
              <a:latin typeface="+mn-lt"/>
            </a:endParaRPr>
          </a:p>
        </p:txBody>
      </p:sp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BBA95D3A-C44E-5D02-8C8F-F79497DB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66" y="1417638"/>
            <a:ext cx="6206820" cy="5414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2FB7-BE32-9D40-B592-7096D437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75" y="620038"/>
            <a:ext cx="8987425" cy="1143000"/>
          </a:xfrm>
        </p:spPr>
        <p:txBody>
          <a:bodyPr>
            <a:noAutofit/>
          </a:bodyPr>
          <a:lstStyle/>
          <a:p>
            <a:r>
              <a:rPr lang="en-CA" sz="2800" b="1"/>
              <a:t>BIN Spatial Distribution suggests geographic isolation and the center west of South America has more Corydoras</a:t>
            </a:r>
            <a:r>
              <a:rPr lang="zh-CN" altLang="en-US" sz="2800" b="1"/>
              <a:t> </a:t>
            </a:r>
            <a:r>
              <a:rPr lang="en-US" altLang="zh-CN" sz="2800" b="1"/>
              <a:t>species then other regions</a:t>
            </a:r>
            <a:br>
              <a:rPr lang="en-CA" sz="3200"/>
            </a:br>
            <a:endParaRPr lang="en-US" sz="32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9D9A767-77D2-591C-D85F-838C95257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map of south america with different colored dots&#10;&#10;AI-generated content may be incorrect.">
            <a:extLst>
              <a:ext uri="{FF2B5EF4-FFF2-40B4-BE49-F238E27FC236}">
                <a16:creationId xmlns:a16="http://schemas.microsoft.com/office/drawing/2014/main" id="{A6D51920-D124-97F5-37F1-BBD0B40D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1651000"/>
            <a:ext cx="59690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2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2321"/>
            <a:ext cx="8686800" cy="1143000"/>
          </a:xfrm>
        </p:spPr>
        <p:txBody>
          <a:bodyPr>
            <a:noAutofit/>
          </a:bodyPr>
          <a:lstStyle/>
          <a:p>
            <a:r>
              <a:rPr lang="en-CA" sz="3200" b="1" dirty="0"/>
              <a:t>NMDS test for BIN Community Structure proves geographic isolation among regions</a:t>
            </a:r>
            <a:endParaRPr sz="3200" b="1" dirty="0"/>
          </a:p>
        </p:txBody>
      </p:sp>
      <p:pic>
        <p:nvPicPr>
          <p:cNvPr id="5" name="Picture 4" descr="A graph with black and white squares&#10;&#10;AI-generated content may be incorrect.">
            <a:extLst>
              <a:ext uri="{FF2B5EF4-FFF2-40B4-BE49-F238E27FC236}">
                <a16:creationId xmlns:a16="http://schemas.microsoft.com/office/drawing/2014/main" id="{FC7BB8A5-EAD6-E026-3F06-19F95406A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39" y="1505321"/>
            <a:ext cx="5969000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23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Catfish </a:t>
            </a:r>
            <a:r>
              <a:rPr b="1" dirty="0"/>
              <a:t>BINs </a:t>
            </a:r>
            <a:r>
              <a:rPr lang="en-CA" b="1" dirty="0"/>
              <a:t>analysis links</a:t>
            </a:r>
            <a:r>
              <a:rPr b="1" dirty="0"/>
              <a:t> </a:t>
            </a:r>
            <a:r>
              <a:rPr lang="en-CA" b="1" dirty="0"/>
              <a:t>to </a:t>
            </a:r>
            <a:r>
              <a:rPr b="1" dirty="0"/>
              <a:t>Geographic Speciation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/>
          <a:lstStyle/>
          <a:p>
            <a:r>
              <a:rPr dirty="0"/>
              <a:t>Distinct BIN clusters in different basins</a:t>
            </a:r>
            <a:r>
              <a:rPr lang="en-CA" dirty="0"/>
              <a:t>, suggesting geographically</a:t>
            </a:r>
            <a:r>
              <a:rPr dirty="0"/>
              <a:t> genetic divergence in Corydoras.</a:t>
            </a:r>
            <a:endParaRPr lang="en-CA" dirty="0"/>
          </a:p>
          <a:p>
            <a:endParaRPr lang="en-CA" dirty="0"/>
          </a:p>
          <a:p>
            <a:r>
              <a:rPr lang="en-CA" dirty="0"/>
              <a:t>New hypothesis: west center basins tend to have more unique corydoras species</a:t>
            </a:r>
          </a:p>
          <a:p>
            <a:endParaRPr lang="en-CA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E0F8-DB5C-2CCA-0E17-BBDB60D8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 of Bin analysis for this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0C87D-5C80-8550-0C0C-328E0B987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ideal to for the Geological catfish speciation that happens in a short term. </a:t>
            </a:r>
          </a:p>
          <a:p>
            <a:endParaRPr lang="en-US" dirty="0"/>
          </a:p>
          <a:p>
            <a:r>
              <a:rPr lang="en-US" dirty="0"/>
              <a:t>Insufficient data for each testing site to study inter and inner region speciation pattern. No further T-test can be performed due to low variation. </a:t>
            </a:r>
          </a:p>
        </p:txBody>
      </p:sp>
    </p:spTree>
    <p:extLst>
      <p:ext uri="{BB962C8B-B14F-4D97-AF65-F5344CB8AC3E}">
        <p14:creationId xmlns:p14="http://schemas.microsoft.com/office/powerpoint/2010/main" val="2176175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71AB-4BD2-ADC6-AC27-86AAF72A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1971-9327-0B13-D169-639E97352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4524"/>
            <a:ext cx="8229600" cy="4525963"/>
          </a:xfrm>
        </p:spPr>
        <p:txBody>
          <a:bodyPr/>
          <a:lstStyle/>
          <a:p>
            <a:endParaRPr lang="en-CA" dirty="0"/>
          </a:p>
          <a:p>
            <a:r>
              <a:rPr lang="en-US" altLang="zh-CN" dirty="0"/>
              <a:t>Feasibility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：</a:t>
            </a:r>
            <a:r>
              <a:rPr lang="en-CA" dirty="0"/>
              <a:t>Compare the BINs speciation results to </a:t>
            </a:r>
            <a:r>
              <a:rPr lang="en-CA" sz="3200" dirty="0"/>
              <a:t>Morphological Analysis other DNA/RNA sequencing data 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Parallel to Darwin’s finches study but using R software to do a </a:t>
            </a:r>
            <a:r>
              <a:rPr lang="en-CA" sz="3200" dirty="0"/>
              <a:t>Morphological Analysis for </a:t>
            </a:r>
            <a:r>
              <a:rPr lang="en-CA" sz="3200" i="1" dirty="0"/>
              <a:t>corydoras</a:t>
            </a:r>
            <a:r>
              <a:rPr lang="en-CA" sz="3200" dirty="0"/>
              <a:t> species 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23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BINs </a:t>
            </a:r>
            <a:r>
              <a:rPr lang="en-CA" dirty="0"/>
              <a:t>illustrates</a:t>
            </a:r>
            <a:r>
              <a:rPr dirty="0"/>
              <a:t> speciation patterns </a:t>
            </a:r>
            <a:r>
              <a:rPr lang="en-CA" dirty="0"/>
              <a:t>and distribution </a:t>
            </a:r>
            <a:r>
              <a:rPr dirty="0"/>
              <a:t>in freshwater fishes</a:t>
            </a:r>
            <a:r>
              <a:rPr lang="en-CA" dirty="0"/>
              <a:t> (</a:t>
            </a:r>
            <a:r>
              <a:rPr lang="en-CA" i="1" dirty="0"/>
              <a:t>corydoras)</a:t>
            </a:r>
            <a:r>
              <a:rPr dirty="0"/>
              <a:t>.</a:t>
            </a:r>
            <a:endParaRPr lang="en-CA" dirty="0"/>
          </a:p>
          <a:p>
            <a:endParaRPr dirty="0"/>
          </a:p>
          <a:p>
            <a:r>
              <a:rPr dirty="0"/>
              <a:t>Distinct BIN composition support</a:t>
            </a:r>
            <a:r>
              <a:rPr lang="en-CA" dirty="0"/>
              <a:t>s</a:t>
            </a:r>
            <a:r>
              <a:rPr dirty="0"/>
              <a:t> geographic isolation.</a:t>
            </a:r>
            <a:endParaRPr lang="en-CA" dirty="0"/>
          </a:p>
          <a:p>
            <a:endParaRPr dirty="0"/>
          </a:p>
          <a:p>
            <a:r>
              <a:rPr dirty="0"/>
              <a:t>Allopatric speciation </a:t>
            </a:r>
            <a:r>
              <a:rPr lang="en-CA" dirty="0"/>
              <a:t>evidence is found</a:t>
            </a:r>
            <a:r>
              <a:rPr dirty="0"/>
              <a:t> in </a:t>
            </a:r>
            <a:r>
              <a:rPr i="1" dirty="0"/>
              <a:t>Corydoras</a:t>
            </a:r>
            <a:r>
              <a:rPr dirty="0"/>
              <a:t> populations.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E1D3-E653-0D21-6ED1-E087A7A9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AF34-7C3F-2C06-86DE-ED7CA8095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Dudgeon, D., Arthington, A. H., Gessner, M. O., Kawabata, Z.-I., Knowler, D. J., Lévêque, C., Naiman, R. J., Prieur-Richard, A.-H., Soto, D., Stiassny, M. L. J., &amp; Sullivan, C. A. (2006). Freshwater biodiversity: importance, threats, status and conservation challenges. </a:t>
            </a:r>
            <a:r>
              <a:rPr lang="en-CA" sz="16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Biological Reviews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CA" sz="16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81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(02), 163–182.</a:t>
            </a:r>
          </a:p>
          <a:p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Alonso, F., Terán, G. E., Aguilera, G., Montes, M. M., Sebastián, W., Calviño, P., Héctor Samuel Vera-Alcaraz, Cardoso, Y., Koerber, S., &amp; Mirande, J. M. (2024). Integrative phylogeny of </a:t>
            </a:r>
            <a:r>
              <a:rPr lang="en-CA" sz="1600" b="0" i="0" dirty="0" err="1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Corydoradinae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 (</a:t>
            </a:r>
            <a:r>
              <a:rPr lang="en-CA" sz="1600" b="0" i="0" dirty="0" err="1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Siluriformes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: Callichthyidae) with an emphasis on Northwestern La Plata species, including descriptions of a new genus and species. </a:t>
            </a:r>
            <a:r>
              <a:rPr lang="en-CA" sz="1600" b="0" i="1" dirty="0" err="1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Zoologischer</a:t>
            </a:r>
            <a:r>
              <a:rPr lang="en-CA" sz="16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 Anzeiger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. https://doi.org/10.1016/j.jcz.2024.11.006</a:t>
            </a:r>
          </a:p>
          <a:p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Reis, R. E., Albert, J. S., Di Dario, F., </a:t>
            </a:r>
            <a:r>
              <a:rPr lang="en-CA" sz="1600" b="0" i="0" dirty="0" err="1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Mincarone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, M. M., Petry, P., &amp; Rocha, L. A. (2016). Fish biodiversity and conservation in South America. </a:t>
            </a:r>
            <a:r>
              <a:rPr lang="en-CA" sz="16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Journal of Fish Biology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CA" sz="16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89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(1), 12–47. https://</a:t>
            </a:r>
            <a:r>
              <a:rPr lang="en-CA" sz="1600" b="0" i="0" dirty="0" err="1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doi.org</a:t>
            </a:r>
            <a:r>
              <a:rPr lang="en-CA" sz="16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/10.1111/jfb.13016</a:t>
            </a:r>
          </a:p>
          <a:p>
            <a:pPr marL="0" indent="0">
              <a:buNone/>
            </a:pPr>
            <a:endParaRPr lang="en-CA" sz="1600" b="0" i="0" dirty="0">
              <a:solidFill>
                <a:srgbClr val="2C3E50"/>
              </a:solidFill>
              <a:effectLst/>
              <a:latin typeface="Calibri" panose="020F0502020204030204" pitchFamily="34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1693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7548</TotalTime>
  <Words>740</Words>
  <Application>Microsoft Macintosh PowerPoint</Application>
  <PresentationFormat>On-screen Show (4:3)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Roboto</vt:lpstr>
      <vt:lpstr>Office Theme</vt:lpstr>
      <vt:lpstr>Using BIN to illustrate Geographic Speciation in Corydoras Catfish Across South America</vt:lpstr>
      <vt:lpstr>Studying biodiversity and speciation helps to understand where life came from, how it works, and how to protect it.</vt:lpstr>
      <vt:lpstr>South America has the most biodiversity and speciation for the fresh-water fishes, due to geological barriers(rivers division) </vt:lpstr>
      <vt:lpstr>DNA barcoding analysis on the Allopatric Speciation distribution map of corydoras species remains unclear</vt:lpstr>
      <vt:lpstr>Hypothesis </vt:lpstr>
      <vt:lpstr>Objectives </vt:lpstr>
      <vt:lpstr>Data Collection &amp; Analysis Pipeline</vt:lpstr>
      <vt:lpstr>The histogram shows that Bolivia significantly contains the most Corydoras species/Bin numbers</vt:lpstr>
      <vt:lpstr>BIN Spatial Distribution suggests geographic isolation and the center west of South America has more Corydoras species then other regions </vt:lpstr>
      <vt:lpstr>NMDS test for BIN Community Structure proves geographic isolation among regions</vt:lpstr>
      <vt:lpstr>Catfish BINs analysis links to Geographic Speciation</vt:lpstr>
      <vt:lpstr>Limitation of Bin analysis for this paper</vt:lpstr>
      <vt:lpstr>Further study </vt:lpstr>
      <vt:lpstr>Conclusions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Tan, Yu Ying [Student]</cp:lastModifiedBy>
  <cp:revision>18</cp:revision>
  <dcterms:created xsi:type="dcterms:W3CDTF">2013-01-27T09:14:16Z</dcterms:created>
  <dcterms:modified xsi:type="dcterms:W3CDTF">2025-10-13T15:52:30Z</dcterms:modified>
  <cp:category/>
</cp:coreProperties>
</file>